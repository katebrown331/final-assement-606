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y="5143500" cx="9144000"/>
  <p:notesSz cx="6858000" cy="9144000"/>
  <p:embeddedFontLst>
    <p:embeddedFont>
      <p:font typeface="Play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647B167-5D44-4B21-BBC2-D34506D703D4}">
  <a:tblStyle styleId="{4647B167-5D44-4B21-BBC2-D34506D703D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22" Type="http://schemas.openxmlformats.org/officeDocument/2006/relationships/slide" Target="slides/slide15.xml"/><Relationship Id="rId10" Type="http://schemas.openxmlformats.org/officeDocument/2006/relationships/slide" Target="slides/slide3.xml"/><Relationship Id="rId21" Type="http://schemas.openxmlformats.org/officeDocument/2006/relationships/slide" Target="slides/slide14.xml"/><Relationship Id="rId13" Type="http://schemas.openxmlformats.org/officeDocument/2006/relationships/slide" Target="slides/slide6.xml"/><Relationship Id="rId24" Type="http://schemas.openxmlformats.org/officeDocument/2006/relationships/font" Target="fonts/Play-bold.fntdata"/><Relationship Id="rId12" Type="http://schemas.openxmlformats.org/officeDocument/2006/relationships/slide" Target="slides/slide5.xml"/><Relationship Id="rId23" Type="http://schemas.openxmlformats.org/officeDocument/2006/relationships/font" Target="fonts/Play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b8fccab93_2_7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ab8fccab93_2_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b8fccab93_2_8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ab8fccab93_2_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ab8fccab93_2_4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ab8fccab93_2_4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ab8fccab93_2_4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8" name="Google Shape;508;g3ab8fccab93_2_45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g3ab8fccab93_2_45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ab8fccab93_2_47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g3ab8fccab93_2_4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ab8fccab93_2_48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g3ab8fccab93_2_48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ab8fccab93_2_50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g3ab8fccab93_2_5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ab8fccab93_2_5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g3ab8fccab93_2_5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ab8fccab93_2_5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g3ab8fccab93_2_5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ab8fccab93_2_5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g3ab8fccab93_2_5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b8fccab93_2_55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g3ab8fccab93_2_5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ab8fccab93_2_57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g3ab8fccab93_2_5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ab8fccab93_2_59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g3ab8fccab93_2_5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b8fccab93_2_6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g3ab8fccab93_2_6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ab8fccab93_2_6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g3ab8fccab93_2_6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image" Target="../media/image2.png"/><Relationship Id="rId6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.png"/><Relationship Id="rId5" Type="http://schemas.openxmlformats.org/officeDocument/2006/relationships/image" Target="../media/image15.png"/><Relationship Id="rId6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3.png"/><Relationship Id="rId6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5"/>
          <p:cNvSpPr/>
          <p:nvPr/>
        </p:nvSpPr>
        <p:spPr>
          <a:xfrm rot="10800000">
            <a:off x="-8792" y="-1"/>
            <a:ext cx="9169465" cy="5151053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4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 flipH="1" rot="10800000">
            <a:off x="331469" y="-2"/>
            <a:ext cx="8829202" cy="5151056"/>
          </a:xfrm>
          <a:prstGeom prst="rect">
            <a:avLst/>
          </a:prstGeom>
          <a:gradFill>
            <a:gsLst>
              <a:gs pos="0">
                <a:srgbClr val="0A3041">
                  <a:alpha val="82745"/>
                </a:srgbClr>
              </a:gs>
              <a:gs pos="21000">
                <a:srgbClr val="0A3041">
                  <a:alpha val="82745"/>
                </a:srgbClr>
              </a:gs>
              <a:gs pos="100000">
                <a:srgbClr val="15608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5"/>
          <p:cNvSpPr/>
          <p:nvPr/>
        </p:nvSpPr>
        <p:spPr>
          <a:xfrm rot="10800000">
            <a:off x="-11400" y="0"/>
            <a:ext cx="2717530" cy="5151054"/>
          </a:xfrm>
          <a:prstGeom prst="rect">
            <a:avLst/>
          </a:prstGeom>
          <a:gradFill>
            <a:gsLst>
              <a:gs pos="0">
                <a:srgbClr val="0F4861">
                  <a:alpha val="0"/>
                </a:srgbClr>
              </a:gs>
              <a:gs pos="99000">
                <a:srgbClr val="000000">
                  <a:alpha val="40784"/>
                </a:srgbClr>
              </a:gs>
              <a:gs pos="100000">
                <a:srgbClr val="000000">
                  <a:alpha val="40784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5"/>
          <p:cNvSpPr/>
          <p:nvPr/>
        </p:nvSpPr>
        <p:spPr>
          <a:xfrm flipH="1">
            <a:off x="-11906" y="-2"/>
            <a:ext cx="9175186" cy="5151057"/>
          </a:xfrm>
          <a:prstGeom prst="rect">
            <a:avLst/>
          </a:prstGeom>
          <a:gradFill>
            <a:gsLst>
              <a:gs pos="0">
                <a:srgbClr val="0F4861">
                  <a:alpha val="0"/>
                </a:srgbClr>
              </a:gs>
              <a:gs pos="3000">
                <a:srgbClr val="0F4861">
                  <a:alpha val="0"/>
                </a:srgbClr>
              </a:gs>
              <a:gs pos="100000">
                <a:srgbClr val="000000">
                  <a:alpha val="72941"/>
                </a:srgbClr>
              </a:gs>
            </a:gsLst>
            <a:lin ang="17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5"/>
          <p:cNvSpPr/>
          <p:nvPr/>
        </p:nvSpPr>
        <p:spPr>
          <a:xfrm flipH="1" rot="5400000">
            <a:off x="3363250" y="-646368"/>
            <a:ext cx="5146448" cy="6448394"/>
          </a:xfrm>
          <a:prstGeom prst="rect">
            <a:avLst/>
          </a:prstGeom>
          <a:gradFill>
            <a:gsLst>
              <a:gs pos="0">
                <a:srgbClr val="0F4861">
                  <a:alpha val="0"/>
                </a:srgbClr>
              </a:gs>
              <a:gs pos="3000">
                <a:srgbClr val="0F4861">
                  <a:alpha val="0"/>
                </a:srgbClr>
              </a:gs>
              <a:gs pos="100000">
                <a:srgbClr val="000000">
                  <a:alpha val="26666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5"/>
          <p:cNvSpPr/>
          <p:nvPr/>
        </p:nvSpPr>
        <p:spPr>
          <a:xfrm rot="5993193">
            <a:off x="890229" y="816787"/>
            <a:ext cx="3725650" cy="3741293"/>
          </a:xfrm>
          <a:prstGeom prst="ellipse">
            <a:avLst/>
          </a:prstGeom>
          <a:gradFill>
            <a:gsLst>
              <a:gs pos="0">
                <a:srgbClr val="156082">
                  <a:alpha val="25882"/>
                </a:srgbClr>
              </a:gs>
              <a:gs pos="85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14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5"/>
          <p:cNvSpPr txBox="1"/>
          <p:nvPr>
            <p:ph type="ctrTitle"/>
          </p:nvPr>
        </p:nvSpPr>
        <p:spPr>
          <a:xfrm>
            <a:off x="3121925" y="614238"/>
            <a:ext cx="5036024" cy="2384017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"/>
              <a:buNone/>
            </a:pPr>
            <a:r>
              <a:rPr lang="en" sz="3600">
                <a:solidFill>
                  <a:srgbClr val="FFFFFF"/>
                </a:solidFill>
              </a:rPr>
              <a:t>LinkedOut</a:t>
            </a:r>
            <a:endParaRPr/>
          </a:p>
        </p:txBody>
      </p:sp>
      <p:sp>
        <p:nvSpPr>
          <p:cNvPr id="137" name="Google Shape;137;p25"/>
          <p:cNvSpPr/>
          <p:nvPr/>
        </p:nvSpPr>
        <p:spPr>
          <a:xfrm flipH="1">
            <a:off x="-2" y="3367582"/>
            <a:ext cx="9163283" cy="1783471"/>
          </a:xfrm>
          <a:prstGeom prst="rect">
            <a:avLst/>
          </a:prstGeom>
          <a:gradFill>
            <a:gsLst>
              <a:gs pos="0">
                <a:srgbClr val="0F4861">
                  <a:alpha val="49803"/>
                </a:srgbClr>
              </a:gs>
              <a:gs pos="99000">
                <a:srgbClr val="000000">
                  <a:alpha val="33725"/>
                </a:srgbClr>
              </a:gs>
              <a:gs pos="100000">
                <a:srgbClr val="000000">
                  <a:alpha val="33725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5"/>
          <p:cNvSpPr txBox="1"/>
          <p:nvPr>
            <p:ph idx="1" type="subTitle"/>
          </p:nvPr>
        </p:nvSpPr>
        <p:spPr>
          <a:xfrm>
            <a:off x="3214048" y="3720721"/>
            <a:ext cx="5291920" cy="8085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None/>
            </a:pPr>
            <a:r>
              <a:rPr lang="en" sz="800">
                <a:solidFill>
                  <a:srgbClr val="FFFFFF"/>
                </a:solidFill>
              </a:rPr>
              <a:t>Quan Nguyen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800"/>
              <a:buNone/>
            </a:pPr>
            <a:r>
              <a:rPr lang="en" sz="800">
                <a:solidFill>
                  <a:srgbClr val="FFFFFF"/>
                </a:solidFill>
              </a:rPr>
              <a:t>David Liu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800"/>
              <a:buNone/>
            </a:pPr>
            <a:r>
              <a:rPr lang="en" sz="800">
                <a:solidFill>
                  <a:srgbClr val="FFFFFF"/>
                </a:solidFill>
              </a:rPr>
              <a:t>Khussal Pradhan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800"/>
              <a:buNone/>
            </a:pPr>
            <a:r>
              <a:rPr lang="en" sz="800">
                <a:solidFill>
                  <a:srgbClr val="FFFFFF"/>
                </a:solidFill>
              </a:rPr>
              <a:t>Aurora Jitrskul</a:t>
            </a:r>
            <a:endParaRPr sz="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360213" y="431521"/>
            <a:ext cx="4280458" cy="4280458"/>
          </a:xfrm>
          <a:prstGeom prst="ellipse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6"/>
          <p:cNvSpPr txBox="1"/>
          <p:nvPr>
            <p:ph type="title"/>
          </p:nvPr>
        </p:nvSpPr>
        <p:spPr>
          <a:xfrm>
            <a:off x="628650" y="1311339"/>
            <a:ext cx="3731078" cy="2690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</a:pPr>
            <a:r>
              <a:rPr lang="en">
                <a:solidFill>
                  <a:schemeClr val="lt1"/>
                </a:solidFill>
              </a:rPr>
              <a:t>The Application – Who &amp; What</a:t>
            </a:r>
            <a:endParaRPr/>
          </a:p>
        </p:txBody>
      </p:sp>
      <p:grpSp>
        <p:nvGrpSpPr>
          <p:cNvPr id="146" name="Google Shape;146;p26"/>
          <p:cNvGrpSpPr/>
          <p:nvPr/>
        </p:nvGrpSpPr>
        <p:grpSpPr>
          <a:xfrm>
            <a:off x="519838" y="894940"/>
            <a:ext cx="968731" cy="321911"/>
            <a:chOff x="2504802" y="1755501"/>
            <a:chExt cx="1598829" cy="531293"/>
          </a:xfrm>
        </p:grpSpPr>
        <p:sp>
          <p:nvSpPr>
            <p:cNvPr id="147" name="Google Shape;147;p26"/>
            <p:cNvSpPr/>
            <p:nvPr/>
          </p:nvSpPr>
          <p:spPr>
            <a:xfrm>
              <a:off x="2504802" y="2113855"/>
              <a:ext cx="1598614" cy="172939"/>
            </a:xfrm>
            <a:custGeom>
              <a:rect b="b" l="l" r="r" t="t"/>
              <a:pathLst>
                <a:path extrusionOk="0" h="172939" w="1598614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26"/>
            <p:cNvSpPr/>
            <p:nvPr/>
          </p:nvSpPr>
          <p:spPr>
            <a:xfrm>
              <a:off x="2504802" y="1755501"/>
              <a:ext cx="1598829" cy="172724"/>
            </a:xfrm>
            <a:custGeom>
              <a:rect b="b" l="l" r="r" t="t"/>
              <a:pathLst>
                <a:path extrusionOk="0" h="172724" w="1598829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9" name="Google Shape;149;p26"/>
          <p:cNvSpPr/>
          <p:nvPr/>
        </p:nvSpPr>
        <p:spPr>
          <a:xfrm>
            <a:off x="3298295" y="316191"/>
            <a:ext cx="968601" cy="968601"/>
          </a:xfrm>
          <a:custGeom>
            <a:rect b="b" l="l" r="r" t="t"/>
            <a:pathLst>
              <a:path extrusionOk="0" h="807148" w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cap="flat" cmpd="sng" w="2857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6"/>
          <p:cNvSpPr/>
          <p:nvPr/>
        </p:nvSpPr>
        <p:spPr>
          <a:xfrm>
            <a:off x="3298295" y="316191"/>
            <a:ext cx="968601" cy="968601"/>
          </a:xfrm>
          <a:custGeom>
            <a:rect b="b" l="l" r="r" t="t"/>
            <a:pathLst>
              <a:path extrusionOk="0" h="807148" w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29803"/>
            </a:schemeClr>
          </a:solidFill>
          <a:ln cap="flat" cmpd="sng" w="2857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1" name="Google Shape;151;p26"/>
          <p:cNvGrpSpPr/>
          <p:nvPr/>
        </p:nvGrpSpPr>
        <p:grpSpPr>
          <a:xfrm>
            <a:off x="3510686" y="3561203"/>
            <a:ext cx="997902" cy="997891"/>
            <a:chOff x="5734037" y="3067039"/>
            <a:chExt cx="724483" cy="724489"/>
          </a:xfrm>
        </p:grpSpPr>
        <p:sp>
          <p:nvSpPr>
            <p:cNvPr id="152" name="Google Shape;152;p26"/>
            <p:cNvSpPr/>
            <p:nvPr/>
          </p:nvSpPr>
          <p:spPr>
            <a:xfrm>
              <a:off x="5734038" y="3067039"/>
              <a:ext cx="14192" cy="14097"/>
            </a:xfrm>
            <a:custGeom>
              <a:rect b="b" l="l" r="r" t="t"/>
              <a:pathLst>
                <a:path extrusionOk="0" h="14097" w="14192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26"/>
            <p:cNvSpPr/>
            <p:nvPr/>
          </p:nvSpPr>
          <p:spPr>
            <a:xfrm>
              <a:off x="5793283" y="3067039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5852433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26"/>
            <p:cNvSpPr/>
            <p:nvPr/>
          </p:nvSpPr>
          <p:spPr>
            <a:xfrm>
              <a:off x="5911678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26"/>
            <p:cNvSpPr/>
            <p:nvPr/>
          </p:nvSpPr>
          <p:spPr>
            <a:xfrm>
              <a:off x="5970828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26"/>
            <p:cNvSpPr/>
            <p:nvPr/>
          </p:nvSpPr>
          <p:spPr>
            <a:xfrm>
              <a:off x="6030074" y="3067039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26"/>
            <p:cNvSpPr/>
            <p:nvPr/>
          </p:nvSpPr>
          <p:spPr>
            <a:xfrm>
              <a:off x="6089224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26"/>
            <p:cNvSpPr/>
            <p:nvPr/>
          </p:nvSpPr>
          <p:spPr>
            <a:xfrm>
              <a:off x="5734038" y="3126284"/>
              <a:ext cx="14192" cy="14097"/>
            </a:xfrm>
            <a:custGeom>
              <a:rect b="b" l="l" r="r" t="t"/>
              <a:pathLst>
                <a:path extrusionOk="0" h="14097" w="14192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26"/>
            <p:cNvSpPr/>
            <p:nvPr/>
          </p:nvSpPr>
          <p:spPr>
            <a:xfrm>
              <a:off x="5793283" y="3126282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26"/>
            <p:cNvSpPr/>
            <p:nvPr/>
          </p:nvSpPr>
          <p:spPr>
            <a:xfrm>
              <a:off x="5852433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26"/>
            <p:cNvSpPr/>
            <p:nvPr/>
          </p:nvSpPr>
          <p:spPr>
            <a:xfrm>
              <a:off x="5911678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6"/>
            <p:cNvSpPr/>
            <p:nvPr/>
          </p:nvSpPr>
          <p:spPr>
            <a:xfrm>
              <a:off x="5970828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26"/>
            <p:cNvSpPr/>
            <p:nvPr/>
          </p:nvSpPr>
          <p:spPr>
            <a:xfrm>
              <a:off x="6030073" y="312628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26"/>
            <p:cNvSpPr/>
            <p:nvPr/>
          </p:nvSpPr>
          <p:spPr>
            <a:xfrm>
              <a:off x="6089224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26"/>
            <p:cNvSpPr/>
            <p:nvPr/>
          </p:nvSpPr>
          <p:spPr>
            <a:xfrm>
              <a:off x="5734038" y="3185434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26"/>
            <p:cNvSpPr/>
            <p:nvPr/>
          </p:nvSpPr>
          <p:spPr>
            <a:xfrm>
              <a:off x="5793283" y="318543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6"/>
            <p:cNvSpPr/>
            <p:nvPr/>
          </p:nvSpPr>
          <p:spPr>
            <a:xfrm>
              <a:off x="5852433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26"/>
            <p:cNvSpPr/>
            <p:nvPr/>
          </p:nvSpPr>
          <p:spPr>
            <a:xfrm>
              <a:off x="5911678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26"/>
            <p:cNvSpPr/>
            <p:nvPr/>
          </p:nvSpPr>
          <p:spPr>
            <a:xfrm>
              <a:off x="5970828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26"/>
            <p:cNvSpPr/>
            <p:nvPr/>
          </p:nvSpPr>
          <p:spPr>
            <a:xfrm>
              <a:off x="6030074" y="318543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26"/>
            <p:cNvSpPr/>
            <p:nvPr/>
          </p:nvSpPr>
          <p:spPr>
            <a:xfrm>
              <a:off x="6089224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26"/>
            <p:cNvSpPr/>
            <p:nvPr/>
          </p:nvSpPr>
          <p:spPr>
            <a:xfrm>
              <a:off x="5734038" y="3244679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26"/>
            <p:cNvSpPr/>
            <p:nvPr/>
          </p:nvSpPr>
          <p:spPr>
            <a:xfrm>
              <a:off x="5793283" y="3244677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5852433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26"/>
            <p:cNvSpPr/>
            <p:nvPr/>
          </p:nvSpPr>
          <p:spPr>
            <a:xfrm>
              <a:off x="5911678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26"/>
            <p:cNvSpPr/>
            <p:nvPr/>
          </p:nvSpPr>
          <p:spPr>
            <a:xfrm>
              <a:off x="5970828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6030073" y="324467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6089224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5734038" y="3303829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26"/>
            <p:cNvSpPr/>
            <p:nvPr/>
          </p:nvSpPr>
          <p:spPr>
            <a:xfrm>
              <a:off x="5793283" y="330382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26"/>
            <p:cNvSpPr/>
            <p:nvPr/>
          </p:nvSpPr>
          <p:spPr>
            <a:xfrm>
              <a:off x="5852433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911678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5970828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6030073" y="330382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6089224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5734038" y="3363074"/>
              <a:ext cx="14192" cy="14097"/>
            </a:xfrm>
            <a:custGeom>
              <a:rect b="b" l="l" r="r" t="t"/>
              <a:pathLst>
                <a:path extrusionOk="0" h="14097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5793283" y="3363072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5852433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5911678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5970828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6030073" y="336307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6089224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5734038" y="3422225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5793283" y="342222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5852433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5911678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5970828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6030073" y="342222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6089224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6148469" y="3067039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6207620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6266865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6326014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6385260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6444410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6148469" y="3126281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6207620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6266865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6326014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6385260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6444410" y="3126283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6148469" y="3185433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6207620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6266865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6326014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6385260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6444410" y="3185432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6148469" y="3244676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6207620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6266865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6326014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6385260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6444410" y="324467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6148469" y="330382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6207620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6266865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6326014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6385260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6444410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6148469" y="3363072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6207620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6266865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6326014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6385260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6444410" y="3363074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6148469" y="342222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6207620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6266865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6326014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6385260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6444410" y="342222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5734038" y="3481374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5793283" y="348137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5852433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5911678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970828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6030074" y="348137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6089224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5734038" y="3540620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5793283" y="3540620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5852433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5911678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5970828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6030074" y="3540620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6089224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5734038" y="3599770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5793283" y="359977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5852433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5911678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5970828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6030073" y="359977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6089224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5734037" y="3659014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5793282" y="3659014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5852432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5911678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5970828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6030073" y="3659014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6089224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5734039" y="3718165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5793284" y="371816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5852434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5911679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5970829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6030074" y="371816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6089225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5734040" y="3777410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5793285" y="377741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5852436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911683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5970835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6030082" y="377741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6089231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6148476" y="3481374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6207627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6266872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6326022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6385268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6444417" y="3481373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6148476" y="3540622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6207627" y="354062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26"/>
            <p:cNvSpPr/>
            <p:nvPr/>
          </p:nvSpPr>
          <p:spPr>
            <a:xfrm>
              <a:off x="6266872" y="35406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26"/>
            <p:cNvSpPr/>
            <p:nvPr/>
          </p:nvSpPr>
          <p:spPr>
            <a:xfrm>
              <a:off x="6326022" y="354062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26"/>
            <p:cNvSpPr/>
            <p:nvPr/>
          </p:nvSpPr>
          <p:spPr>
            <a:xfrm>
              <a:off x="6385268" y="354063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26"/>
            <p:cNvSpPr/>
            <p:nvPr/>
          </p:nvSpPr>
          <p:spPr>
            <a:xfrm>
              <a:off x="6444417" y="3540631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26"/>
            <p:cNvSpPr/>
            <p:nvPr/>
          </p:nvSpPr>
          <p:spPr>
            <a:xfrm>
              <a:off x="6148476" y="3599781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26"/>
            <p:cNvSpPr/>
            <p:nvPr/>
          </p:nvSpPr>
          <p:spPr>
            <a:xfrm>
              <a:off x="6207627" y="3599781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26"/>
            <p:cNvSpPr/>
            <p:nvPr/>
          </p:nvSpPr>
          <p:spPr>
            <a:xfrm>
              <a:off x="6266872" y="3599781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26"/>
            <p:cNvSpPr/>
            <p:nvPr/>
          </p:nvSpPr>
          <p:spPr>
            <a:xfrm>
              <a:off x="6326022" y="3599781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26"/>
            <p:cNvSpPr/>
            <p:nvPr/>
          </p:nvSpPr>
          <p:spPr>
            <a:xfrm>
              <a:off x="6385268" y="359978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6444417" y="3599782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26"/>
            <p:cNvSpPr/>
            <p:nvPr/>
          </p:nvSpPr>
          <p:spPr>
            <a:xfrm>
              <a:off x="6148476" y="3659026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26"/>
            <p:cNvSpPr/>
            <p:nvPr/>
          </p:nvSpPr>
          <p:spPr>
            <a:xfrm>
              <a:off x="6207627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26"/>
            <p:cNvSpPr/>
            <p:nvPr/>
          </p:nvSpPr>
          <p:spPr>
            <a:xfrm>
              <a:off x="6266872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26"/>
            <p:cNvSpPr/>
            <p:nvPr/>
          </p:nvSpPr>
          <p:spPr>
            <a:xfrm>
              <a:off x="6326022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26"/>
            <p:cNvSpPr/>
            <p:nvPr/>
          </p:nvSpPr>
          <p:spPr>
            <a:xfrm>
              <a:off x="6385268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26"/>
            <p:cNvSpPr/>
            <p:nvPr/>
          </p:nvSpPr>
          <p:spPr>
            <a:xfrm>
              <a:off x="6444417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26"/>
            <p:cNvSpPr/>
            <p:nvPr/>
          </p:nvSpPr>
          <p:spPr>
            <a:xfrm>
              <a:off x="6148476" y="3718177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26"/>
            <p:cNvSpPr/>
            <p:nvPr/>
          </p:nvSpPr>
          <p:spPr>
            <a:xfrm>
              <a:off x="6207627" y="371817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p26"/>
            <p:cNvSpPr/>
            <p:nvPr/>
          </p:nvSpPr>
          <p:spPr>
            <a:xfrm>
              <a:off x="6266872" y="371817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26"/>
            <p:cNvSpPr/>
            <p:nvPr/>
          </p:nvSpPr>
          <p:spPr>
            <a:xfrm>
              <a:off x="6326022" y="371817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26"/>
            <p:cNvSpPr/>
            <p:nvPr/>
          </p:nvSpPr>
          <p:spPr>
            <a:xfrm>
              <a:off x="6385268" y="3718172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26"/>
            <p:cNvSpPr/>
            <p:nvPr/>
          </p:nvSpPr>
          <p:spPr>
            <a:xfrm>
              <a:off x="6444417" y="371817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26"/>
            <p:cNvSpPr/>
            <p:nvPr/>
          </p:nvSpPr>
          <p:spPr>
            <a:xfrm>
              <a:off x="6148472" y="3777419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26"/>
            <p:cNvSpPr/>
            <p:nvPr/>
          </p:nvSpPr>
          <p:spPr>
            <a:xfrm>
              <a:off x="6207622" y="3777419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26"/>
            <p:cNvSpPr/>
            <p:nvPr/>
          </p:nvSpPr>
          <p:spPr>
            <a:xfrm>
              <a:off x="6266868" y="3777419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26"/>
            <p:cNvSpPr/>
            <p:nvPr/>
          </p:nvSpPr>
          <p:spPr>
            <a:xfrm>
              <a:off x="6326024" y="3777383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26"/>
            <p:cNvSpPr/>
            <p:nvPr/>
          </p:nvSpPr>
          <p:spPr>
            <a:xfrm>
              <a:off x="6385287" y="3777429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26"/>
            <p:cNvSpPr/>
            <p:nvPr/>
          </p:nvSpPr>
          <p:spPr>
            <a:xfrm>
              <a:off x="6444424" y="377742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1" name="Google Shape;321;p26"/>
          <p:cNvGrpSpPr/>
          <p:nvPr/>
        </p:nvGrpSpPr>
        <p:grpSpPr>
          <a:xfrm>
            <a:off x="3510686" y="3561203"/>
            <a:ext cx="997902" cy="997891"/>
            <a:chOff x="5734037" y="3067039"/>
            <a:chExt cx="724483" cy="724489"/>
          </a:xfrm>
        </p:grpSpPr>
        <p:sp>
          <p:nvSpPr>
            <p:cNvPr id="322" name="Google Shape;322;p26"/>
            <p:cNvSpPr/>
            <p:nvPr/>
          </p:nvSpPr>
          <p:spPr>
            <a:xfrm>
              <a:off x="5734038" y="3067039"/>
              <a:ext cx="14192" cy="14097"/>
            </a:xfrm>
            <a:custGeom>
              <a:rect b="b" l="l" r="r" t="t"/>
              <a:pathLst>
                <a:path extrusionOk="0" h="14097" w="14192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26"/>
            <p:cNvSpPr/>
            <p:nvPr/>
          </p:nvSpPr>
          <p:spPr>
            <a:xfrm>
              <a:off x="5793283" y="3067039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26"/>
            <p:cNvSpPr/>
            <p:nvPr/>
          </p:nvSpPr>
          <p:spPr>
            <a:xfrm>
              <a:off x="5852433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26"/>
            <p:cNvSpPr/>
            <p:nvPr/>
          </p:nvSpPr>
          <p:spPr>
            <a:xfrm>
              <a:off x="5911678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26"/>
            <p:cNvSpPr/>
            <p:nvPr/>
          </p:nvSpPr>
          <p:spPr>
            <a:xfrm>
              <a:off x="5970828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26"/>
            <p:cNvSpPr/>
            <p:nvPr/>
          </p:nvSpPr>
          <p:spPr>
            <a:xfrm>
              <a:off x="6030074" y="3067039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26"/>
            <p:cNvSpPr/>
            <p:nvPr/>
          </p:nvSpPr>
          <p:spPr>
            <a:xfrm>
              <a:off x="6089224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26"/>
            <p:cNvSpPr/>
            <p:nvPr/>
          </p:nvSpPr>
          <p:spPr>
            <a:xfrm>
              <a:off x="5734038" y="3126284"/>
              <a:ext cx="14192" cy="14097"/>
            </a:xfrm>
            <a:custGeom>
              <a:rect b="b" l="l" r="r" t="t"/>
              <a:pathLst>
                <a:path extrusionOk="0" h="14097" w="14192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26"/>
            <p:cNvSpPr/>
            <p:nvPr/>
          </p:nvSpPr>
          <p:spPr>
            <a:xfrm>
              <a:off x="5793283" y="3126282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26"/>
            <p:cNvSpPr/>
            <p:nvPr/>
          </p:nvSpPr>
          <p:spPr>
            <a:xfrm>
              <a:off x="5852433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26"/>
            <p:cNvSpPr/>
            <p:nvPr/>
          </p:nvSpPr>
          <p:spPr>
            <a:xfrm>
              <a:off x="5911678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26"/>
            <p:cNvSpPr/>
            <p:nvPr/>
          </p:nvSpPr>
          <p:spPr>
            <a:xfrm>
              <a:off x="5970828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26"/>
            <p:cNvSpPr/>
            <p:nvPr/>
          </p:nvSpPr>
          <p:spPr>
            <a:xfrm>
              <a:off x="6030073" y="312628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26"/>
            <p:cNvSpPr/>
            <p:nvPr/>
          </p:nvSpPr>
          <p:spPr>
            <a:xfrm>
              <a:off x="6089224" y="312628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26"/>
            <p:cNvSpPr/>
            <p:nvPr/>
          </p:nvSpPr>
          <p:spPr>
            <a:xfrm>
              <a:off x="5734038" y="3185434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26"/>
            <p:cNvSpPr/>
            <p:nvPr/>
          </p:nvSpPr>
          <p:spPr>
            <a:xfrm>
              <a:off x="5793283" y="318543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26"/>
            <p:cNvSpPr/>
            <p:nvPr/>
          </p:nvSpPr>
          <p:spPr>
            <a:xfrm>
              <a:off x="5852433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26"/>
            <p:cNvSpPr/>
            <p:nvPr/>
          </p:nvSpPr>
          <p:spPr>
            <a:xfrm>
              <a:off x="5911678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26"/>
            <p:cNvSpPr/>
            <p:nvPr/>
          </p:nvSpPr>
          <p:spPr>
            <a:xfrm>
              <a:off x="5970828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26"/>
            <p:cNvSpPr/>
            <p:nvPr/>
          </p:nvSpPr>
          <p:spPr>
            <a:xfrm>
              <a:off x="6030074" y="318543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26"/>
            <p:cNvSpPr/>
            <p:nvPr/>
          </p:nvSpPr>
          <p:spPr>
            <a:xfrm>
              <a:off x="6089224" y="318543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26"/>
            <p:cNvSpPr/>
            <p:nvPr/>
          </p:nvSpPr>
          <p:spPr>
            <a:xfrm>
              <a:off x="5734038" y="3244679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26"/>
            <p:cNvSpPr/>
            <p:nvPr/>
          </p:nvSpPr>
          <p:spPr>
            <a:xfrm>
              <a:off x="5793283" y="3244677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26"/>
            <p:cNvSpPr/>
            <p:nvPr/>
          </p:nvSpPr>
          <p:spPr>
            <a:xfrm>
              <a:off x="5852433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26"/>
            <p:cNvSpPr/>
            <p:nvPr/>
          </p:nvSpPr>
          <p:spPr>
            <a:xfrm>
              <a:off x="5911678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26"/>
            <p:cNvSpPr/>
            <p:nvPr/>
          </p:nvSpPr>
          <p:spPr>
            <a:xfrm>
              <a:off x="5970828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26"/>
            <p:cNvSpPr/>
            <p:nvPr/>
          </p:nvSpPr>
          <p:spPr>
            <a:xfrm>
              <a:off x="6030073" y="324467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26"/>
            <p:cNvSpPr/>
            <p:nvPr/>
          </p:nvSpPr>
          <p:spPr>
            <a:xfrm>
              <a:off x="6089224" y="3244677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26"/>
            <p:cNvSpPr/>
            <p:nvPr/>
          </p:nvSpPr>
          <p:spPr>
            <a:xfrm>
              <a:off x="5734038" y="3303829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26"/>
            <p:cNvSpPr/>
            <p:nvPr/>
          </p:nvSpPr>
          <p:spPr>
            <a:xfrm>
              <a:off x="5793283" y="330382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26"/>
            <p:cNvSpPr/>
            <p:nvPr/>
          </p:nvSpPr>
          <p:spPr>
            <a:xfrm>
              <a:off x="5852433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26"/>
            <p:cNvSpPr/>
            <p:nvPr/>
          </p:nvSpPr>
          <p:spPr>
            <a:xfrm>
              <a:off x="5911678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26"/>
            <p:cNvSpPr/>
            <p:nvPr/>
          </p:nvSpPr>
          <p:spPr>
            <a:xfrm>
              <a:off x="5970828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26"/>
            <p:cNvSpPr/>
            <p:nvPr/>
          </p:nvSpPr>
          <p:spPr>
            <a:xfrm>
              <a:off x="6030073" y="330382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26"/>
            <p:cNvSpPr/>
            <p:nvPr/>
          </p:nvSpPr>
          <p:spPr>
            <a:xfrm>
              <a:off x="6089224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26"/>
            <p:cNvSpPr/>
            <p:nvPr/>
          </p:nvSpPr>
          <p:spPr>
            <a:xfrm>
              <a:off x="5734038" y="3363074"/>
              <a:ext cx="14192" cy="14097"/>
            </a:xfrm>
            <a:custGeom>
              <a:rect b="b" l="l" r="r" t="t"/>
              <a:pathLst>
                <a:path extrusionOk="0" h="14097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26"/>
            <p:cNvSpPr/>
            <p:nvPr/>
          </p:nvSpPr>
          <p:spPr>
            <a:xfrm>
              <a:off x="5793283" y="3363072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26"/>
            <p:cNvSpPr/>
            <p:nvPr/>
          </p:nvSpPr>
          <p:spPr>
            <a:xfrm>
              <a:off x="5852433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26"/>
            <p:cNvSpPr/>
            <p:nvPr/>
          </p:nvSpPr>
          <p:spPr>
            <a:xfrm>
              <a:off x="5911678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26"/>
            <p:cNvSpPr/>
            <p:nvPr/>
          </p:nvSpPr>
          <p:spPr>
            <a:xfrm>
              <a:off x="5970828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26"/>
            <p:cNvSpPr/>
            <p:nvPr/>
          </p:nvSpPr>
          <p:spPr>
            <a:xfrm>
              <a:off x="6030073" y="336307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26"/>
            <p:cNvSpPr/>
            <p:nvPr/>
          </p:nvSpPr>
          <p:spPr>
            <a:xfrm>
              <a:off x="6089224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26"/>
            <p:cNvSpPr/>
            <p:nvPr/>
          </p:nvSpPr>
          <p:spPr>
            <a:xfrm>
              <a:off x="5734038" y="3422225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26"/>
            <p:cNvSpPr/>
            <p:nvPr/>
          </p:nvSpPr>
          <p:spPr>
            <a:xfrm>
              <a:off x="5793283" y="342222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26"/>
            <p:cNvSpPr/>
            <p:nvPr/>
          </p:nvSpPr>
          <p:spPr>
            <a:xfrm>
              <a:off x="5852433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26"/>
            <p:cNvSpPr/>
            <p:nvPr/>
          </p:nvSpPr>
          <p:spPr>
            <a:xfrm>
              <a:off x="5911678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26"/>
            <p:cNvSpPr/>
            <p:nvPr/>
          </p:nvSpPr>
          <p:spPr>
            <a:xfrm>
              <a:off x="5970828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26"/>
            <p:cNvSpPr/>
            <p:nvPr/>
          </p:nvSpPr>
          <p:spPr>
            <a:xfrm>
              <a:off x="6030073" y="342222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26"/>
            <p:cNvSpPr/>
            <p:nvPr/>
          </p:nvSpPr>
          <p:spPr>
            <a:xfrm>
              <a:off x="6089224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26"/>
            <p:cNvSpPr/>
            <p:nvPr/>
          </p:nvSpPr>
          <p:spPr>
            <a:xfrm>
              <a:off x="6148469" y="3067039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26"/>
            <p:cNvSpPr/>
            <p:nvPr/>
          </p:nvSpPr>
          <p:spPr>
            <a:xfrm>
              <a:off x="6207620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26"/>
            <p:cNvSpPr/>
            <p:nvPr/>
          </p:nvSpPr>
          <p:spPr>
            <a:xfrm>
              <a:off x="6266865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26"/>
            <p:cNvSpPr/>
            <p:nvPr/>
          </p:nvSpPr>
          <p:spPr>
            <a:xfrm>
              <a:off x="6326014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26"/>
            <p:cNvSpPr/>
            <p:nvPr/>
          </p:nvSpPr>
          <p:spPr>
            <a:xfrm>
              <a:off x="6385260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26"/>
            <p:cNvSpPr/>
            <p:nvPr/>
          </p:nvSpPr>
          <p:spPr>
            <a:xfrm>
              <a:off x="6444410" y="3067039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26"/>
            <p:cNvSpPr/>
            <p:nvPr/>
          </p:nvSpPr>
          <p:spPr>
            <a:xfrm>
              <a:off x="6148469" y="3126281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26"/>
            <p:cNvSpPr/>
            <p:nvPr/>
          </p:nvSpPr>
          <p:spPr>
            <a:xfrm>
              <a:off x="6207620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26"/>
            <p:cNvSpPr/>
            <p:nvPr/>
          </p:nvSpPr>
          <p:spPr>
            <a:xfrm>
              <a:off x="6266865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26"/>
            <p:cNvSpPr/>
            <p:nvPr/>
          </p:nvSpPr>
          <p:spPr>
            <a:xfrm>
              <a:off x="6326014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26"/>
            <p:cNvSpPr/>
            <p:nvPr/>
          </p:nvSpPr>
          <p:spPr>
            <a:xfrm>
              <a:off x="6385260" y="3126281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26"/>
            <p:cNvSpPr/>
            <p:nvPr/>
          </p:nvSpPr>
          <p:spPr>
            <a:xfrm>
              <a:off x="6444410" y="3126283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26"/>
            <p:cNvSpPr/>
            <p:nvPr/>
          </p:nvSpPr>
          <p:spPr>
            <a:xfrm>
              <a:off x="6148469" y="3185433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26"/>
            <p:cNvSpPr/>
            <p:nvPr/>
          </p:nvSpPr>
          <p:spPr>
            <a:xfrm>
              <a:off x="6207620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26"/>
            <p:cNvSpPr/>
            <p:nvPr/>
          </p:nvSpPr>
          <p:spPr>
            <a:xfrm>
              <a:off x="6266865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26"/>
            <p:cNvSpPr/>
            <p:nvPr/>
          </p:nvSpPr>
          <p:spPr>
            <a:xfrm>
              <a:off x="6326014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26"/>
            <p:cNvSpPr/>
            <p:nvPr/>
          </p:nvSpPr>
          <p:spPr>
            <a:xfrm>
              <a:off x="6385260" y="318543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26"/>
            <p:cNvSpPr/>
            <p:nvPr/>
          </p:nvSpPr>
          <p:spPr>
            <a:xfrm>
              <a:off x="6444410" y="3185432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26"/>
            <p:cNvSpPr/>
            <p:nvPr/>
          </p:nvSpPr>
          <p:spPr>
            <a:xfrm>
              <a:off x="6148469" y="3244676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26"/>
            <p:cNvSpPr/>
            <p:nvPr/>
          </p:nvSpPr>
          <p:spPr>
            <a:xfrm>
              <a:off x="6207620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26"/>
            <p:cNvSpPr/>
            <p:nvPr/>
          </p:nvSpPr>
          <p:spPr>
            <a:xfrm>
              <a:off x="6266865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26"/>
            <p:cNvSpPr/>
            <p:nvPr/>
          </p:nvSpPr>
          <p:spPr>
            <a:xfrm>
              <a:off x="6326014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26"/>
            <p:cNvSpPr/>
            <p:nvPr/>
          </p:nvSpPr>
          <p:spPr>
            <a:xfrm>
              <a:off x="6385260" y="3244676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26"/>
            <p:cNvSpPr/>
            <p:nvPr/>
          </p:nvSpPr>
          <p:spPr>
            <a:xfrm>
              <a:off x="6444410" y="324467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26"/>
            <p:cNvSpPr/>
            <p:nvPr/>
          </p:nvSpPr>
          <p:spPr>
            <a:xfrm>
              <a:off x="6148469" y="3303829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26"/>
            <p:cNvSpPr/>
            <p:nvPr/>
          </p:nvSpPr>
          <p:spPr>
            <a:xfrm>
              <a:off x="6207620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26"/>
            <p:cNvSpPr/>
            <p:nvPr/>
          </p:nvSpPr>
          <p:spPr>
            <a:xfrm>
              <a:off x="6266865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26"/>
            <p:cNvSpPr/>
            <p:nvPr/>
          </p:nvSpPr>
          <p:spPr>
            <a:xfrm>
              <a:off x="6326014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26"/>
            <p:cNvSpPr/>
            <p:nvPr/>
          </p:nvSpPr>
          <p:spPr>
            <a:xfrm>
              <a:off x="6385260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26"/>
            <p:cNvSpPr/>
            <p:nvPr/>
          </p:nvSpPr>
          <p:spPr>
            <a:xfrm>
              <a:off x="6444410" y="3303829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6148469" y="3363072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6207620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6266865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26"/>
            <p:cNvSpPr/>
            <p:nvPr/>
          </p:nvSpPr>
          <p:spPr>
            <a:xfrm>
              <a:off x="6326014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26"/>
            <p:cNvSpPr/>
            <p:nvPr/>
          </p:nvSpPr>
          <p:spPr>
            <a:xfrm>
              <a:off x="6385260" y="3363072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6444410" y="3363074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6148469" y="342222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6207620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26"/>
            <p:cNvSpPr/>
            <p:nvPr/>
          </p:nvSpPr>
          <p:spPr>
            <a:xfrm>
              <a:off x="6266865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26"/>
            <p:cNvSpPr/>
            <p:nvPr/>
          </p:nvSpPr>
          <p:spPr>
            <a:xfrm>
              <a:off x="6326014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26"/>
            <p:cNvSpPr/>
            <p:nvPr/>
          </p:nvSpPr>
          <p:spPr>
            <a:xfrm>
              <a:off x="6385260" y="342222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26"/>
            <p:cNvSpPr/>
            <p:nvPr/>
          </p:nvSpPr>
          <p:spPr>
            <a:xfrm>
              <a:off x="6444410" y="342222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26"/>
            <p:cNvSpPr/>
            <p:nvPr/>
          </p:nvSpPr>
          <p:spPr>
            <a:xfrm>
              <a:off x="5734038" y="3481374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26"/>
            <p:cNvSpPr/>
            <p:nvPr/>
          </p:nvSpPr>
          <p:spPr>
            <a:xfrm>
              <a:off x="5793283" y="348137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26"/>
            <p:cNvSpPr/>
            <p:nvPr/>
          </p:nvSpPr>
          <p:spPr>
            <a:xfrm>
              <a:off x="5852433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26"/>
            <p:cNvSpPr/>
            <p:nvPr/>
          </p:nvSpPr>
          <p:spPr>
            <a:xfrm>
              <a:off x="5911678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26"/>
            <p:cNvSpPr/>
            <p:nvPr/>
          </p:nvSpPr>
          <p:spPr>
            <a:xfrm>
              <a:off x="5970828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26"/>
            <p:cNvSpPr/>
            <p:nvPr/>
          </p:nvSpPr>
          <p:spPr>
            <a:xfrm>
              <a:off x="6030074" y="3481374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26"/>
            <p:cNvSpPr/>
            <p:nvPr/>
          </p:nvSpPr>
          <p:spPr>
            <a:xfrm>
              <a:off x="6089224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26"/>
            <p:cNvSpPr/>
            <p:nvPr/>
          </p:nvSpPr>
          <p:spPr>
            <a:xfrm>
              <a:off x="5734038" y="3540620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26"/>
            <p:cNvSpPr/>
            <p:nvPr/>
          </p:nvSpPr>
          <p:spPr>
            <a:xfrm>
              <a:off x="5793283" y="3540620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26"/>
            <p:cNvSpPr/>
            <p:nvPr/>
          </p:nvSpPr>
          <p:spPr>
            <a:xfrm>
              <a:off x="5852433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26"/>
            <p:cNvSpPr/>
            <p:nvPr/>
          </p:nvSpPr>
          <p:spPr>
            <a:xfrm>
              <a:off x="5911678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26"/>
            <p:cNvSpPr/>
            <p:nvPr/>
          </p:nvSpPr>
          <p:spPr>
            <a:xfrm>
              <a:off x="5970828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26"/>
            <p:cNvSpPr/>
            <p:nvPr/>
          </p:nvSpPr>
          <p:spPr>
            <a:xfrm>
              <a:off x="6030074" y="3540620"/>
              <a:ext cx="14097" cy="14097"/>
            </a:xfrm>
            <a:custGeom>
              <a:rect b="b" l="l" r="r" t="t"/>
              <a:pathLst>
                <a:path extrusionOk="0" h="14097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26"/>
            <p:cNvSpPr/>
            <p:nvPr/>
          </p:nvSpPr>
          <p:spPr>
            <a:xfrm>
              <a:off x="6089224" y="354062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p26"/>
            <p:cNvSpPr/>
            <p:nvPr/>
          </p:nvSpPr>
          <p:spPr>
            <a:xfrm>
              <a:off x="5734038" y="3599770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26"/>
            <p:cNvSpPr/>
            <p:nvPr/>
          </p:nvSpPr>
          <p:spPr>
            <a:xfrm>
              <a:off x="5793283" y="359977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26"/>
            <p:cNvSpPr/>
            <p:nvPr/>
          </p:nvSpPr>
          <p:spPr>
            <a:xfrm>
              <a:off x="5852433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26"/>
            <p:cNvSpPr/>
            <p:nvPr/>
          </p:nvSpPr>
          <p:spPr>
            <a:xfrm>
              <a:off x="5911678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26"/>
            <p:cNvSpPr/>
            <p:nvPr/>
          </p:nvSpPr>
          <p:spPr>
            <a:xfrm>
              <a:off x="5970828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6030073" y="359977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26"/>
            <p:cNvSpPr/>
            <p:nvPr/>
          </p:nvSpPr>
          <p:spPr>
            <a:xfrm>
              <a:off x="6089224" y="359977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26"/>
            <p:cNvSpPr/>
            <p:nvPr/>
          </p:nvSpPr>
          <p:spPr>
            <a:xfrm>
              <a:off x="5734037" y="3659014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26"/>
            <p:cNvSpPr/>
            <p:nvPr/>
          </p:nvSpPr>
          <p:spPr>
            <a:xfrm>
              <a:off x="5793282" y="3659014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5852432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26"/>
            <p:cNvSpPr/>
            <p:nvPr/>
          </p:nvSpPr>
          <p:spPr>
            <a:xfrm>
              <a:off x="5911678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26"/>
            <p:cNvSpPr/>
            <p:nvPr/>
          </p:nvSpPr>
          <p:spPr>
            <a:xfrm>
              <a:off x="5970828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26"/>
            <p:cNvSpPr/>
            <p:nvPr/>
          </p:nvSpPr>
          <p:spPr>
            <a:xfrm>
              <a:off x="6030073" y="3659014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26"/>
            <p:cNvSpPr/>
            <p:nvPr/>
          </p:nvSpPr>
          <p:spPr>
            <a:xfrm>
              <a:off x="6089224" y="365901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26"/>
            <p:cNvSpPr/>
            <p:nvPr/>
          </p:nvSpPr>
          <p:spPr>
            <a:xfrm>
              <a:off x="5734039" y="3718165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26"/>
            <p:cNvSpPr/>
            <p:nvPr/>
          </p:nvSpPr>
          <p:spPr>
            <a:xfrm>
              <a:off x="5793284" y="371816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26"/>
            <p:cNvSpPr/>
            <p:nvPr/>
          </p:nvSpPr>
          <p:spPr>
            <a:xfrm>
              <a:off x="5852434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26"/>
            <p:cNvSpPr/>
            <p:nvPr/>
          </p:nvSpPr>
          <p:spPr>
            <a:xfrm>
              <a:off x="5911679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26"/>
            <p:cNvSpPr/>
            <p:nvPr/>
          </p:nvSpPr>
          <p:spPr>
            <a:xfrm>
              <a:off x="5970829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26"/>
            <p:cNvSpPr/>
            <p:nvPr/>
          </p:nvSpPr>
          <p:spPr>
            <a:xfrm>
              <a:off x="6030074" y="3718165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26"/>
            <p:cNvSpPr/>
            <p:nvPr/>
          </p:nvSpPr>
          <p:spPr>
            <a:xfrm>
              <a:off x="6089225" y="3718165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26"/>
            <p:cNvSpPr/>
            <p:nvPr/>
          </p:nvSpPr>
          <p:spPr>
            <a:xfrm>
              <a:off x="5734040" y="3777410"/>
              <a:ext cx="14192" cy="14096"/>
            </a:xfrm>
            <a:custGeom>
              <a:rect b="b" l="l" r="r" t="t"/>
              <a:pathLst>
                <a:path extrusionOk="0" h="14096" w="14192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26"/>
            <p:cNvSpPr/>
            <p:nvPr/>
          </p:nvSpPr>
          <p:spPr>
            <a:xfrm>
              <a:off x="5793285" y="377741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26"/>
            <p:cNvSpPr/>
            <p:nvPr/>
          </p:nvSpPr>
          <p:spPr>
            <a:xfrm>
              <a:off x="5852436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26"/>
            <p:cNvSpPr/>
            <p:nvPr/>
          </p:nvSpPr>
          <p:spPr>
            <a:xfrm>
              <a:off x="5911683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26"/>
            <p:cNvSpPr/>
            <p:nvPr/>
          </p:nvSpPr>
          <p:spPr>
            <a:xfrm>
              <a:off x="5970835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26"/>
            <p:cNvSpPr/>
            <p:nvPr/>
          </p:nvSpPr>
          <p:spPr>
            <a:xfrm>
              <a:off x="6030082" y="3777410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26"/>
            <p:cNvSpPr/>
            <p:nvPr/>
          </p:nvSpPr>
          <p:spPr>
            <a:xfrm>
              <a:off x="6089231" y="3777408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26"/>
            <p:cNvSpPr/>
            <p:nvPr/>
          </p:nvSpPr>
          <p:spPr>
            <a:xfrm>
              <a:off x="6148476" y="3481374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26"/>
            <p:cNvSpPr/>
            <p:nvPr/>
          </p:nvSpPr>
          <p:spPr>
            <a:xfrm>
              <a:off x="6207627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26"/>
            <p:cNvSpPr/>
            <p:nvPr/>
          </p:nvSpPr>
          <p:spPr>
            <a:xfrm>
              <a:off x="6266872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26"/>
            <p:cNvSpPr/>
            <p:nvPr/>
          </p:nvSpPr>
          <p:spPr>
            <a:xfrm>
              <a:off x="6326022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6385268" y="348137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26"/>
            <p:cNvSpPr/>
            <p:nvPr/>
          </p:nvSpPr>
          <p:spPr>
            <a:xfrm>
              <a:off x="6444417" y="3481373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6148476" y="3540622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6207627" y="3540623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26"/>
            <p:cNvSpPr/>
            <p:nvPr/>
          </p:nvSpPr>
          <p:spPr>
            <a:xfrm>
              <a:off x="6266872" y="35406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26"/>
            <p:cNvSpPr/>
            <p:nvPr/>
          </p:nvSpPr>
          <p:spPr>
            <a:xfrm>
              <a:off x="6326022" y="354062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26"/>
            <p:cNvSpPr/>
            <p:nvPr/>
          </p:nvSpPr>
          <p:spPr>
            <a:xfrm>
              <a:off x="6385268" y="354063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26"/>
            <p:cNvSpPr/>
            <p:nvPr/>
          </p:nvSpPr>
          <p:spPr>
            <a:xfrm>
              <a:off x="6444417" y="3540631"/>
              <a:ext cx="14096" cy="14097"/>
            </a:xfrm>
            <a:custGeom>
              <a:rect b="b" l="l" r="r" t="t"/>
              <a:pathLst>
                <a:path extrusionOk="0" h="14097" w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26"/>
            <p:cNvSpPr/>
            <p:nvPr/>
          </p:nvSpPr>
          <p:spPr>
            <a:xfrm>
              <a:off x="6148476" y="3599781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26"/>
            <p:cNvSpPr/>
            <p:nvPr/>
          </p:nvSpPr>
          <p:spPr>
            <a:xfrm>
              <a:off x="6207627" y="3599781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26"/>
            <p:cNvSpPr/>
            <p:nvPr/>
          </p:nvSpPr>
          <p:spPr>
            <a:xfrm>
              <a:off x="6266872" y="3599781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26"/>
            <p:cNvSpPr/>
            <p:nvPr/>
          </p:nvSpPr>
          <p:spPr>
            <a:xfrm>
              <a:off x="6326022" y="3599781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26"/>
            <p:cNvSpPr/>
            <p:nvPr/>
          </p:nvSpPr>
          <p:spPr>
            <a:xfrm>
              <a:off x="6385268" y="3599780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26"/>
            <p:cNvSpPr/>
            <p:nvPr/>
          </p:nvSpPr>
          <p:spPr>
            <a:xfrm>
              <a:off x="6444417" y="3599782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26"/>
            <p:cNvSpPr/>
            <p:nvPr/>
          </p:nvSpPr>
          <p:spPr>
            <a:xfrm>
              <a:off x="6148476" y="3659026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26"/>
            <p:cNvSpPr/>
            <p:nvPr/>
          </p:nvSpPr>
          <p:spPr>
            <a:xfrm>
              <a:off x="6207627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26"/>
            <p:cNvSpPr/>
            <p:nvPr/>
          </p:nvSpPr>
          <p:spPr>
            <a:xfrm>
              <a:off x="6266872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26"/>
            <p:cNvSpPr/>
            <p:nvPr/>
          </p:nvSpPr>
          <p:spPr>
            <a:xfrm>
              <a:off x="6326022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26"/>
            <p:cNvSpPr/>
            <p:nvPr/>
          </p:nvSpPr>
          <p:spPr>
            <a:xfrm>
              <a:off x="6385268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26"/>
            <p:cNvSpPr/>
            <p:nvPr/>
          </p:nvSpPr>
          <p:spPr>
            <a:xfrm>
              <a:off x="6444417" y="365902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26"/>
            <p:cNvSpPr/>
            <p:nvPr/>
          </p:nvSpPr>
          <p:spPr>
            <a:xfrm>
              <a:off x="6148476" y="3718177"/>
              <a:ext cx="14097" cy="14096"/>
            </a:xfrm>
            <a:custGeom>
              <a:rect b="b" l="l" r="r" t="t"/>
              <a:pathLst>
                <a:path extrusionOk="0" h="14096" w="14097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26"/>
            <p:cNvSpPr/>
            <p:nvPr/>
          </p:nvSpPr>
          <p:spPr>
            <a:xfrm>
              <a:off x="6207627" y="371817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26"/>
            <p:cNvSpPr/>
            <p:nvPr/>
          </p:nvSpPr>
          <p:spPr>
            <a:xfrm>
              <a:off x="6266872" y="371817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26"/>
            <p:cNvSpPr/>
            <p:nvPr/>
          </p:nvSpPr>
          <p:spPr>
            <a:xfrm>
              <a:off x="6326022" y="3718177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26"/>
            <p:cNvSpPr/>
            <p:nvPr/>
          </p:nvSpPr>
          <p:spPr>
            <a:xfrm>
              <a:off x="6385268" y="3718172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26"/>
            <p:cNvSpPr/>
            <p:nvPr/>
          </p:nvSpPr>
          <p:spPr>
            <a:xfrm>
              <a:off x="6444417" y="3718176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26"/>
            <p:cNvSpPr/>
            <p:nvPr/>
          </p:nvSpPr>
          <p:spPr>
            <a:xfrm>
              <a:off x="6148472" y="3777419"/>
              <a:ext cx="14097" cy="14099"/>
            </a:xfrm>
            <a:custGeom>
              <a:rect b="b" l="l" r="r" t="t"/>
              <a:pathLst>
                <a:path extrusionOk="0" h="14099" w="14097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26"/>
            <p:cNvSpPr/>
            <p:nvPr/>
          </p:nvSpPr>
          <p:spPr>
            <a:xfrm>
              <a:off x="6207622" y="3777419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26"/>
            <p:cNvSpPr/>
            <p:nvPr/>
          </p:nvSpPr>
          <p:spPr>
            <a:xfrm>
              <a:off x="6266868" y="3777419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26"/>
            <p:cNvSpPr/>
            <p:nvPr/>
          </p:nvSpPr>
          <p:spPr>
            <a:xfrm>
              <a:off x="6326024" y="3777383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26"/>
            <p:cNvSpPr/>
            <p:nvPr/>
          </p:nvSpPr>
          <p:spPr>
            <a:xfrm>
              <a:off x="6385287" y="3777429"/>
              <a:ext cx="14096" cy="14099"/>
            </a:xfrm>
            <a:custGeom>
              <a:rect b="b" l="l" r="r" t="t"/>
              <a:pathLst>
                <a:path extrusionOk="0" h="14099" w="14096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26"/>
            <p:cNvSpPr/>
            <p:nvPr/>
          </p:nvSpPr>
          <p:spPr>
            <a:xfrm>
              <a:off x="6444424" y="3777424"/>
              <a:ext cx="14096" cy="14096"/>
            </a:xfrm>
            <a:custGeom>
              <a:rect b="b" l="l" r="r" t="t"/>
              <a:pathLst>
                <a:path extrusionOk="0" h="14096" w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1" name="Google Shape;491;p26"/>
          <p:cNvSpPr txBox="1"/>
          <p:nvPr>
            <p:ph idx="1" type="body"/>
          </p:nvPr>
        </p:nvSpPr>
        <p:spPr>
          <a:xfrm>
            <a:off x="4857952" y="848134"/>
            <a:ext cx="3731078" cy="28911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</a:pPr>
            <a:r>
              <a:rPr lang="en" sz="1700">
                <a:solidFill>
                  <a:schemeClr val="lt1"/>
                </a:solidFill>
              </a:rPr>
              <a:t>Client/End-users</a:t>
            </a:r>
            <a:endParaRPr/>
          </a:p>
          <a:p>
            <a:pPr indent="-349250" lvl="0" marL="3429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Play"/>
              <a:buAutoNum type="arabicPeriod"/>
            </a:pPr>
            <a:r>
              <a:rPr b="1" lang="en" sz="1700">
                <a:solidFill>
                  <a:schemeClr val="lt1"/>
                </a:solidFill>
              </a:rPr>
              <a:t>Texas A&amp;M Students</a:t>
            </a:r>
            <a:r>
              <a:rPr lang="en" sz="1700">
                <a:solidFill>
                  <a:schemeClr val="lt1"/>
                </a:solidFill>
              </a:rPr>
              <a:t> Current students seeking internships and full-time positions through peer referrals</a:t>
            </a:r>
            <a:endParaRPr/>
          </a:p>
          <a:p>
            <a:pPr indent="-349250" lvl="0" marL="3429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Play"/>
              <a:buAutoNum type="arabicPeriod"/>
            </a:pPr>
            <a:r>
              <a:rPr b="1" lang="en" sz="1700">
                <a:solidFill>
                  <a:schemeClr val="lt1"/>
                </a:solidFill>
              </a:rPr>
              <a:t>Texas A&amp;M Alumni </a:t>
            </a:r>
            <a:r>
              <a:rPr lang="en" sz="1700">
                <a:solidFill>
                  <a:schemeClr val="lt1"/>
                </a:solidFill>
              </a:rPr>
              <a:t>Graduates working at companies who want to help fellow Aggies land jobs</a:t>
            </a:r>
            <a:endParaRPr/>
          </a:p>
          <a:p>
            <a:pPr indent="-349250" lvl="0" marL="3429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Play"/>
              <a:buAutoNum type="arabicPeriod"/>
            </a:pPr>
            <a:r>
              <a:rPr b="1" lang="en" sz="1700">
                <a:solidFill>
                  <a:schemeClr val="lt1"/>
                </a:solidFill>
              </a:rPr>
              <a:t>Career Seekers </a:t>
            </a:r>
            <a:r>
              <a:rPr lang="en" sz="1700">
                <a:solidFill>
                  <a:schemeClr val="lt1"/>
                </a:solidFill>
              </a:rPr>
              <a:t>Anyone in the TAMU network looking to leverage connections for job opportunities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2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The Application – Who &amp; What</a:t>
            </a:r>
            <a:endParaRPr/>
          </a:p>
        </p:txBody>
      </p:sp>
      <p:grpSp>
        <p:nvGrpSpPr>
          <p:cNvPr id="497" name="Google Shape;497;p27"/>
          <p:cNvGrpSpPr/>
          <p:nvPr/>
        </p:nvGrpSpPr>
        <p:grpSpPr>
          <a:xfrm>
            <a:off x="628650" y="1450225"/>
            <a:ext cx="7886700" cy="3101491"/>
            <a:chOff x="0" y="108008"/>
            <a:chExt cx="10515600" cy="4135321"/>
          </a:xfrm>
        </p:grpSpPr>
        <p:sp>
          <p:nvSpPr>
            <p:cNvPr id="498" name="Google Shape;498;p27"/>
            <p:cNvSpPr/>
            <p:nvPr/>
          </p:nvSpPr>
          <p:spPr>
            <a:xfrm>
              <a:off x="0" y="108008"/>
              <a:ext cx="10515600" cy="589679"/>
            </a:xfrm>
            <a:prstGeom prst="roundRect">
              <a:avLst>
                <a:gd fmla="val 16667" name="adj"/>
              </a:avLst>
            </a:prstGeom>
            <a:solidFill>
              <a:srgbClr val="126082"/>
            </a:solid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27"/>
            <p:cNvSpPr txBox="1"/>
            <p:nvPr/>
          </p:nvSpPr>
          <p:spPr>
            <a:xfrm>
              <a:off x="28786" y="136794"/>
              <a:ext cx="10458028" cy="5321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r>
                <a:rPr lang="en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What problems does it solve?</a:t>
              </a:r>
              <a:endParaRPr sz="1100"/>
            </a:p>
          </p:txBody>
        </p:sp>
        <p:sp>
          <p:nvSpPr>
            <p:cNvPr id="500" name="Google Shape;500;p27"/>
            <p:cNvSpPr/>
            <p:nvPr/>
          </p:nvSpPr>
          <p:spPr>
            <a:xfrm>
              <a:off x="0" y="697688"/>
              <a:ext cx="10515600" cy="1316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27"/>
            <p:cNvSpPr txBox="1"/>
            <p:nvPr/>
          </p:nvSpPr>
          <p:spPr>
            <a:xfrm>
              <a:off x="0" y="697688"/>
              <a:ext cx="10515600" cy="1316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50" lIns="250400" spcFirstLastPara="1" rIns="128000" wrap="square" tIns="22850">
              <a:noAutofit/>
            </a:bodyPr>
            <a:lstStyle/>
            <a:p>
              <a:pPr indent="-127000" lvl="1" marL="1270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Helps TAMU students and alumni connect for job referrals within a trusted network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Enables verification of company employment to ensure legitimate referral opportunities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Simplifies the referral request process with custom screening questions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Provides direct private communication between referrers and candidates</a:t>
              </a:r>
              <a:endParaRPr sz="1100"/>
            </a:p>
          </p:txBody>
        </p:sp>
        <p:sp>
          <p:nvSpPr>
            <p:cNvPr id="502" name="Google Shape;502;p27"/>
            <p:cNvSpPr/>
            <p:nvPr/>
          </p:nvSpPr>
          <p:spPr>
            <a:xfrm>
              <a:off x="0" y="2014209"/>
              <a:ext cx="10515600" cy="589679"/>
            </a:xfrm>
            <a:prstGeom prst="roundRect">
              <a:avLst>
                <a:gd fmla="val 16667" name="adj"/>
              </a:avLst>
            </a:prstGeom>
            <a:solidFill>
              <a:srgbClr val="126082"/>
            </a:solid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27"/>
            <p:cNvSpPr txBox="1"/>
            <p:nvPr/>
          </p:nvSpPr>
          <p:spPr>
            <a:xfrm>
              <a:off x="28786" y="2042995"/>
              <a:ext cx="10458028" cy="53210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r>
                <a:rPr lang="en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How does it solve those problems?</a:t>
              </a:r>
              <a:endParaRPr sz="1100"/>
            </a:p>
          </p:txBody>
        </p:sp>
        <p:sp>
          <p:nvSpPr>
            <p:cNvPr id="504" name="Google Shape;504;p27"/>
            <p:cNvSpPr/>
            <p:nvPr/>
          </p:nvSpPr>
          <p:spPr>
            <a:xfrm>
              <a:off x="0" y="2603889"/>
              <a:ext cx="10515600" cy="16394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27"/>
            <p:cNvSpPr txBox="1"/>
            <p:nvPr/>
          </p:nvSpPr>
          <p:spPr>
            <a:xfrm>
              <a:off x="0" y="2603889"/>
              <a:ext cx="10515600" cy="16394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50" lIns="250400" spcFirstLastPara="1" rIns="128000" wrap="square" tIns="22850">
              <a:noAutofit/>
            </a:bodyPr>
            <a:lstStyle/>
            <a:p>
              <a:pPr indent="-127000" lvl="1" marL="1270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Provides full authentication with TAMU email verification to ensure network exclusivity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Allows users to verify company employment via company email domain matching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Enables referrers to create, manage, and screen referral posts with custom questions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Facilitates private conversations automatically when referral requests are approved</a:t>
              </a:r>
              <a:endParaRPr sz="1100"/>
            </a:p>
            <a:p>
              <a:pPr indent="-127000" lvl="1" marL="1270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Provides comprehensive profile management with resume uploads and experience tracking</a:t>
              </a:r>
              <a:endParaRPr sz="110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2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System Design – Key Component</a:t>
            </a:r>
            <a:endParaRPr/>
          </a:p>
        </p:txBody>
      </p:sp>
      <p:grpSp>
        <p:nvGrpSpPr>
          <p:cNvPr id="512" name="Google Shape;512;p28"/>
          <p:cNvGrpSpPr/>
          <p:nvPr/>
        </p:nvGrpSpPr>
        <p:grpSpPr>
          <a:xfrm>
            <a:off x="1274668" y="1400297"/>
            <a:ext cx="6772832" cy="3135069"/>
            <a:chOff x="1699557" y="41438"/>
            <a:chExt cx="9030443" cy="4180092"/>
          </a:xfrm>
        </p:grpSpPr>
        <p:sp>
          <p:nvSpPr>
            <p:cNvPr id="513" name="Google Shape;513;p28"/>
            <p:cNvSpPr/>
            <p:nvPr/>
          </p:nvSpPr>
          <p:spPr>
            <a:xfrm>
              <a:off x="2168822" y="535218"/>
              <a:ext cx="704794" cy="704794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28"/>
            <p:cNvSpPr/>
            <p:nvPr/>
          </p:nvSpPr>
          <p:spPr>
            <a:xfrm>
              <a:off x="1699557" y="1350119"/>
              <a:ext cx="1566210" cy="19056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28"/>
            <p:cNvSpPr txBox="1"/>
            <p:nvPr/>
          </p:nvSpPr>
          <p:spPr>
            <a:xfrm>
              <a:off x="1699557" y="1350119"/>
              <a:ext cx="1566210" cy="19056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Frontend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HTML/ERB views with Bootstrap 5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Custom TAMU theme (maroon color scheme)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- Stimulus.js for lightweight interactivity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Turbo Rails for SPA-like navigation</a:t>
              </a:r>
              <a:endParaRPr sz="1100"/>
            </a:p>
          </p:txBody>
        </p:sp>
        <p:sp>
          <p:nvSpPr>
            <p:cNvPr id="516" name="Google Shape;516;p28"/>
            <p:cNvSpPr/>
            <p:nvPr/>
          </p:nvSpPr>
          <p:spPr>
            <a:xfrm>
              <a:off x="5662322" y="535218"/>
              <a:ext cx="704794" cy="704794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28"/>
            <p:cNvSpPr/>
            <p:nvPr/>
          </p:nvSpPr>
          <p:spPr>
            <a:xfrm>
              <a:off x="5196703" y="1601893"/>
              <a:ext cx="1566210" cy="19056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28"/>
            <p:cNvSpPr txBox="1"/>
            <p:nvPr/>
          </p:nvSpPr>
          <p:spPr>
            <a:xfrm>
              <a:off x="5196703" y="1601893"/>
              <a:ext cx="1566210" cy="19056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Backend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Ruby on Rails MVC framework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BCrypt for password hashing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Active Storage for resume uploads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Action Mailer for email verification</a:t>
              </a:r>
              <a:endParaRPr sz="1100"/>
            </a:p>
          </p:txBody>
        </p:sp>
        <p:sp>
          <p:nvSpPr>
            <p:cNvPr id="519" name="Google Shape;519;p28"/>
            <p:cNvSpPr/>
            <p:nvPr/>
          </p:nvSpPr>
          <p:spPr>
            <a:xfrm>
              <a:off x="9566576" y="41438"/>
              <a:ext cx="704794" cy="704794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28"/>
            <p:cNvSpPr/>
            <p:nvPr/>
          </p:nvSpPr>
          <p:spPr>
            <a:xfrm>
              <a:off x="9163790" y="873935"/>
              <a:ext cx="1566210" cy="19056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28"/>
            <p:cNvSpPr txBox="1"/>
            <p:nvPr/>
          </p:nvSpPr>
          <p:spPr>
            <a:xfrm>
              <a:off x="9163790" y="873935"/>
              <a:ext cx="1566210" cy="19056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Database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PostgreSQL (production-ready)</a:t>
              </a:r>
              <a:endParaRPr sz="1100"/>
            </a:p>
          </p:txBody>
        </p:sp>
        <p:sp>
          <p:nvSpPr>
            <p:cNvPr id="522" name="Google Shape;522;p28"/>
            <p:cNvSpPr/>
            <p:nvPr/>
          </p:nvSpPr>
          <p:spPr>
            <a:xfrm>
              <a:off x="9579785" y="1725431"/>
              <a:ext cx="704794" cy="704794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28"/>
            <p:cNvSpPr/>
            <p:nvPr/>
          </p:nvSpPr>
          <p:spPr>
            <a:xfrm>
              <a:off x="9173688" y="2790541"/>
              <a:ext cx="1545145" cy="14309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28"/>
            <p:cNvSpPr txBox="1"/>
            <p:nvPr/>
          </p:nvSpPr>
          <p:spPr>
            <a:xfrm>
              <a:off x="9173688" y="2790541"/>
              <a:ext cx="1545145" cy="143098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External Services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b="1" lang="en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</a:t>
              </a:r>
              <a:r>
                <a:rPr lang="en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SMTP Service (Mailtrap) </a:t>
              </a:r>
              <a:endParaRPr sz="1100"/>
            </a:p>
            <a:p>
              <a:pPr indent="0" lvl="0" marL="0" marR="0" rtl="0" algn="ctr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For sending verification emails to users</a:t>
              </a:r>
              <a:endParaRPr sz="1100"/>
            </a:p>
          </p:txBody>
        </p:sp>
      </p:grpSp>
      <p:cxnSp>
        <p:nvCxnSpPr>
          <p:cNvPr id="525" name="Google Shape;525;p28"/>
          <p:cNvCxnSpPr/>
          <p:nvPr/>
        </p:nvCxnSpPr>
        <p:spPr>
          <a:xfrm>
            <a:off x="2535868" y="2033476"/>
            <a:ext cx="1395524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26" name="Google Shape;526;p28"/>
          <p:cNvCxnSpPr/>
          <p:nvPr/>
        </p:nvCxnSpPr>
        <p:spPr>
          <a:xfrm flipH="1" rot="10800000">
            <a:off x="5087682" y="1641540"/>
            <a:ext cx="1762343" cy="328142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27" name="Google Shape;527;p28"/>
          <p:cNvCxnSpPr/>
          <p:nvPr/>
        </p:nvCxnSpPr>
        <p:spPr>
          <a:xfrm>
            <a:off x="5087682" y="2161067"/>
            <a:ext cx="1762343" cy="828149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29"/>
          <p:cNvSpPr/>
          <p:nvPr/>
        </p:nvSpPr>
        <p:spPr>
          <a:xfrm>
            <a:off x="0" y="0"/>
            <a:ext cx="9143999" cy="51430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29"/>
          <p:cNvSpPr txBox="1"/>
          <p:nvPr>
            <p:ph type="title"/>
          </p:nvPr>
        </p:nvSpPr>
        <p:spPr>
          <a:xfrm>
            <a:off x="835357" y="2220537"/>
            <a:ext cx="3027251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Font typeface="Play"/>
              <a:buNone/>
            </a:pPr>
            <a:r>
              <a:rPr lang="en" sz="41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Database Design</a:t>
            </a:r>
            <a:br>
              <a:rPr lang="en" sz="41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lang="en" sz="41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Diagram</a:t>
            </a:r>
            <a:endParaRPr/>
          </a:p>
        </p:txBody>
      </p:sp>
      <p:grpSp>
        <p:nvGrpSpPr>
          <p:cNvPr id="534" name="Google Shape;534;p29"/>
          <p:cNvGrpSpPr/>
          <p:nvPr/>
        </p:nvGrpSpPr>
        <p:grpSpPr>
          <a:xfrm>
            <a:off x="0" y="2238744"/>
            <a:ext cx="548641" cy="505095"/>
            <a:chOff x="3940602" y="308034"/>
            <a:chExt cx="2116791" cy="3428999"/>
          </a:xfrm>
        </p:grpSpPr>
        <p:sp>
          <p:nvSpPr>
            <p:cNvPr id="535" name="Google Shape;535;p29"/>
            <p:cNvSpPr/>
            <p:nvPr/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29"/>
            <p:cNvSpPr/>
            <p:nvPr/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29"/>
            <p:cNvSpPr/>
            <p:nvPr/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8" name="Google Shape;538;p29"/>
          <p:cNvSpPr/>
          <p:nvPr/>
        </p:nvSpPr>
        <p:spPr>
          <a:xfrm flipH="1">
            <a:off x="8023253" y="0"/>
            <a:ext cx="1120748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29"/>
          <p:cNvSpPr/>
          <p:nvPr/>
        </p:nvSpPr>
        <p:spPr>
          <a:xfrm>
            <a:off x="4264358" y="293915"/>
            <a:ext cx="4507025" cy="4512809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rotWithShape="0" algn="t" dir="5400000" dist="127000">
              <a:srgbClr val="00000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diagram of a computer program&#10;&#10;AI-generated content may be incorrect." id="540" name="Google Shape;540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1249" y="296539"/>
            <a:ext cx="4160644" cy="4510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close-up of a hexagonal structure&#10;&#10;AI-generated content may be incorrect." id="545" name="Google Shape;54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" y="8"/>
            <a:ext cx="9143985" cy="5143493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E8E8">
                  <a:alpha val="67843"/>
                </a:srgbClr>
              </a:gs>
              <a:gs pos="10000">
                <a:srgbClr val="E8E8E8">
                  <a:alpha val="67843"/>
                </a:srgbClr>
              </a:gs>
              <a:gs pos="85000">
                <a:srgbClr val="E8E8E8">
                  <a:alpha val="96862"/>
                </a:srgbClr>
              </a:gs>
              <a:gs pos="100000">
                <a:srgbClr val="E8E8E8">
                  <a:alpha val="96862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3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Database Design Model (in words)</a:t>
            </a:r>
            <a:endParaRPr/>
          </a:p>
        </p:txBody>
      </p:sp>
      <p:grpSp>
        <p:nvGrpSpPr>
          <p:cNvPr id="548" name="Google Shape;548;p30"/>
          <p:cNvGrpSpPr/>
          <p:nvPr/>
        </p:nvGrpSpPr>
        <p:grpSpPr>
          <a:xfrm>
            <a:off x="628650" y="1398984"/>
            <a:ext cx="7886700" cy="3203972"/>
            <a:chOff x="0" y="39687"/>
            <a:chExt cx="10515600" cy="4271963"/>
          </a:xfrm>
        </p:grpSpPr>
        <p:sp>
          <p:nvSpPr>
            <p:cNvPr id="549" name="Google Shape;549;p30"/>
            <p:cNvSpPr/>
            <p:nvPr/>
          </p:nvSpPr>
          <p:spPr>
            <a:xfrm>
              <a:off x="0" y="39687"/>
              <a:ext cx="3286125" cy="1971675"/>
            </a:xfrm>
            <a:prstGeom prst="rect">
              <a:avLst/>
            </a:prstGeom>
            <a:gradFill>
              <a:gsLst>
                <a:gs pos="0">
                  <a:srgbClr val="EC8154"/>
                </a:gs>
                <a:gs pos="50000">
                  <a:srgbClr val="F16E27"/>
                </a:gs>
                <a:gs pos="100000">
                  <a:srgbClr val="DF5D18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30"/>
            <p:cNvSpPr txBox="1"/>
            <p:nvPr/>
          </p:nvSpPr>
          <p:spPr>
            <a:xfrm>
              <a:off x="0" y="39687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r>
                <a:rPr b="1"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Relationships</a:t>
              </a:r>
              <a:r>
                <a:rPr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ReferralPosts (as poster)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ReferralRequests (as requester)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CompanyVerifications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Messages (as sender)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Conversations (as sender)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User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Conversations (as recipient)</a:t>
              </a:r>
              <a:endParaRPr sz="1100"/>
            </a:p>
          </p:txBody>
        </p:sp>
        <p:sp>
          <p:nvSpPr>
            <p:cNvPr id="551" name="Google Shape;551;p30"/>
            <p:cNvSpPr/>
            <p:nvPr/>
          </p:nvSpPr>
          <p:spPr>
            <a:xfrm>
              <a:off x="3614737" y="39687"/>
              <a:ext cx="3286125" cy="1971675"/>
            </a:xfrm>
            <a:prstGeom prst="rect">
              <a:avLst/>
            </a:prstGeom>
            <a:gradFill>
              <a:gsLst>
                <a:gs pos="0">
                  <a:srgbClr val="DDB84A"/>
                </a:gs>
                <a:gs pos="50000">
                  <a:srgbClr val="DEB312"/>
                </a:gs>
                <a:gs pos="100000">
                  <a:srgbClr val="CBA208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30"/>
            <p:cNvSpPr txBox="1"/>
            <p:nvPr/>
          </p:nvSpPr>
          <p:spPr>
            <a:xfrm>
              <a:off x="3614737" y="39687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r>
                <a:rPr b="1"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ReferralPost Relationships</a:t>
              </a:r>
              <a:r>
                <a:rPr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ReferralPost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User (poster)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ReferralPost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CompanyVerification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ReferralPost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ReferralRequests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ReferralRequest Relationships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ReferralRequest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User (requester)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ReferralRequest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ReferralPost</a:t>
              </a:r>
              <a:endPara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30"/>
            <p:cNvSpPr/>
            <p:nvPr/>
          </p:nvSpPr>
          <p:spPr>
            <a:xfrm>
              <a:off x="7229475" y="39687"/>
              <a:ext cx="3286125" cy="1971675"/>
            </a:xfrm>
            <a:prstGeom prst="rect">
              <a:avLst/>
            </a:prstGeom>
            <a:gradFill>
              <a:gsLst>
                <a:gs pos="0">
                  <a:srgbClr val="99BA4A"/>
                </a:gs>
                <a:gs pos="50000">
                  <a:srgbClr val="8FB614"/>
                </a:gs>
                <a:gs pos="100000">
                  <a:srgbClr val="81A70B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30"/>
            <p:cNvSpPr txBox="1"/>
            <p:nvPr/>
          </p:nvSpPr>
          <p:spPr>
            <a:xfrm>
              <a:off x="7229475" y="39687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r>
                <a:rPr b="1"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CompanyVerification Relationships</a:t>
              </a:r>
              <a:endPara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82550" lvl="1" marL="889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CompanyVerification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User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CompanyVerification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ReferralPosts (with restrict_with_error)</a:t>
              </a:r>
              <a:endParaRPr sz="1100"/>
            </a:p>
          </p:txBody>
        </p:sp>
        <p:sp>
          <p:nvSpPr>
            <p:cNvPr id="555" name="Google Shape;555;p30"/>
            <p:cNvSpPr/>
            <p:nvPr/>
          </p:nvSpPr>
          <p:spPr>
            <a:xfrm>
              <a:off x="1807368" y="2339975"/>
              <a:ext cx="3286125" cy="1971675"/>
            </a:xfrm>
            <a:prstGeom prst="rect">
              <a:avLst/>
            </a:prstGeom>
            <a:gradFill>
              <a:gsLst>
                <a:gs pos="0">
                  <a:srgbClr val="5A984A"/>
                </a:gs>
                <a:gs pos="50000">
                  <a:srgbClr val="3A9014"/>
                </a:gs>
                <a:gs pos="100000">
                  <a:srgbClr val="32840C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30"/>
            <p:cNvSpPr txBox="1"/>
            <p:nvPr/>
          </p:nvSpPr>
          <p:spPr>
            <a:xfrm>
              <a:off x="1807368" y="2339975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r>
                <a:rPr b="1"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Conversation Relationships</a:t>
              </a:r>
              <a:endPara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82550" lvl="1" marL="889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Conversation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User (as sender) 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Conversation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User (as recipient)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Conversation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one-to-many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Messages</a:t>
              </a:r>
              <a:endParaRPr sz="1100"/>
            </a:p>
          </p:txBody>
        </p:sp>
        <p:sp>
          <p:nvSpPr>
            <p:cNvPr id="557" name="Google Shape;557;p30"/>
            <p:cNvSpPr/>
            <p:nvPr/>
          </p:nvSpPr>
          <p:spPr>
            <a:xfrm>
              <a:off x="5422106" y="2339975"/>
              <a:ext cx="3286125" cy="1971675"/>
            </a:xfrm>
            <a:prstGeom prst="rect">
              <a:avLst/>
            </a:prstGeom>
            <a:gradFill>
              <a:gsLst>
                <a:gs pos="0">
                  <a:srgbClr val="497B4D"/>
                </a:gs>
                <a:gs pos="50000">
                  <a:srgbClr val="126D20"/>
                </a:gs>
                <a:gs pos="100000">
                  <a:srgbClr val="0C6319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30"/>
            <p:cNvSpPr txBox="1"/>
            <p:nvPr/>
          </p:nvSpPr>
          <p:spPr>
            <a:xfrm>
              <a:off x="5422106" y="2339975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r>
                <a:rPr b="1" lang="en" sz="12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Message Relationships</a:t>
              </a:r>
              <a:endPara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82550" lvl="1" marL="889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Message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Conversation</a:t>
              </a:r>
              <a:endParaRPr sz="1100"/>
            </a:p>
            <a:p>
              <a:pPr indent="-82550" lvl="1" marL="88900" marR="0" rtl="0" algn="l">
                <a:lnSpc>
                  <a:spcPct val="90000"/>
                </a:lnSpc>
                <a:spcBef>
                  <a:spcPts val="10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Arial"/>
                <a:buChar char="•"/>
              </a:pP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Message </a:t>
              </a:r>
              <a:r>
                <a:rPr b="1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belongs-to</a:t>
              </a:r>
              <a:r>
                <a:rPr b="0" i="0" lang="en" sz="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User</a:t>
              </a:r>
              <a:endParaRPr sz="110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31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31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31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31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31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31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31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Play"/>
              <a:buNone/>
            </a:pPr>
            <a:r>
              <a:rPr lang="en" sz="3000">
                <a:solidFill>
                  <a:srgbClr val="FFFFFF"/>
                </a:solidFill>
              </a:rPr>
              <a:t>Framework and Tool Used</a:t>
            </a:r>
            <a:endParaRPr/>
          </a:p>
        </p:txBody>
      </p:sp>
      <p:sp>
        <p:nvSpPr>
          <p:cNvPr id="571" name="Google Shape;571;p31"/>
          <p:cNvSpPr txBox="1"/>
          <p:nvPr>
            <p:ph idx="1" type="body"/>
          </p:nvPr>
        </p:nvSpPr>
        <p:spPr>
          <a:xfrm>
            <a:off x="3607694" y="487110"/>
            <a:ext cx="4916510" cy="415953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Ruby on Rails</a:t>
            </a:r>
            <a:r>
              <a:rPr lang="en" sz="1200"/>
              <a:t> Model-View-Controller Framework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SQLite3/PostgreSQL</a:t>
            </a:r>
            <a:r>
              <a:rPr lang="en" sz="1200"/>
              <a:t> Relational Database System  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RSpec</a:t>
            </a:r>
            <a:r>
              <a:rPr lang="en" sz="1200"/>
              <a:t> Unit and integration tests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Cucumber</a:t>
            </a:r>
            <a:r>
              <a:rPr lang="en" sz="1200"/>
              <a:t> Acceptance/BDD tests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Capybara</a:t>
            </a:r>
            <a:r>
              <a:rPr lang="en" sz="1200"/>
              <a:t> Browser automation for system tests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FactoryBot</a:t>
            </a:r>
            <a:r>
              <a:rPr lang="en" sz="1200"/>
              <a:t> Test data generation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SimpleCov</a:t>
            </a:r>
            <a:r>
              <a:rPr lang="en" sz="1200"/>
              <a:t> Code coverage reporting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Bootstrap 5</a:t>
            </a:r>
            <a:r>
              <a:rPr lang="en" sz="1200"/>
              <a:t> Responsive UI framework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en" sz="1200"/>
              <a:t> </a:t>
            </a:r>
            <a:r>
              <a:rPr b="1" lang="en" sz="1200"/>
              <a:t>Stimulus.js</a:t>
            </a:r>
            <a:r>
              <a:rPr lang="en" sz="1200"/>
              <a:t> Lightweight JavaScript framework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Turbo Rails</a:t>
            </a:r>
            <a:r>
              <a:rPr lang="en" sz="1200"/>
              <a:t> Fast page transitions 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Custom TAMU Theme</a:t>
            </a:r>
            <a:r>
              <a:rPr lang="en" sz="1200"/>
              <a:t> Brand-consistent styling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Action Mailer</a:t>
            </a:r>
            <a:r>
              <a:rPr lang="en" sz="1200"/>
              <a:t> Email delivery system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Active Storage</a:t>
            </a:r>
            <a:r>
              <a:rPr lang="en" sz="1200"/>
              <a:t> File upload management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Mailtrap (Dev) / SendGrid (Prod)</a:t>
            </a:r>
            <a:r>
              <a:rPr lang="en" sz="1200"/>
              <a:t> SMTP services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Heroku</a:t>
            </a:r>
            <a:r>
              <a:rPr lang="en" sz="1200"/>
              <a:t> Production hosting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b="1" lang="en" sz="1200"/>
              <a:t>GitHub Actions (Optional)</a:t>
            </a:r>
            <a:r>
              <a:rPr lang="en" sz="1200"/>
              <a:t> CI/CD pipeline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32"/>
          <p:cNvSpPr txBox="1"/>
          <p:nvPr>
            <p:ph type="title"/>
          </p:nvPr>
        </p:nvSpPr>
        <p:spPr>
          <a:xfrm>
            <a:off x="630936" y="192024"/>
            <a:ext cx="7879842" cy="7612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Design Pattern Used</a:t>
            </a:r>
            <a:endParaRPr/>
          </a:p>
        </p:txBody>
      </p:sp>
      <p:sp>
        <p:nvSpPr>
          <p:cNvPr id="578" name="Google Shape;578;p32"/>
          <p:cNvSpPr/>
          <p:nvPr/>
        </p:nvSpPr>
        <p:spPr>
          <a:xfrm>
            <a:off x="649465" y="1225877"/>
            <a:ext cx="7838694" cy="13716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32"/>
          <p:cNvSpPr/>
          <p:nvPr/>
        </p:nvSpPr>
        <p:spPr>
          <a:xfrm flipH="1" rot="10800000">
            <a:off x="630936" y="1153632"/>
            <a:ext cx="1405093" cy="823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80" name="Google Shape;580;p32"/>
          <p:cNvGrpSpPr/>
          <p:nvPr/>
        </p:nvGrpSpPr>
        <p:grpSpPr>
          <a:xfrm>
            <a:off x="628650" y="1446056"/>
            <a:ext cx="7886700" cy="3265430"/>
            <a:chOff x="0" y="1808"/>
            <a:chExt cx="10515600" cy="4353906"/>
          </a:xfrm>
        </p:grpSpPr>
        <p:sp>
          <p:nvSpPr>
            <p:cNvPr id="581" name="Google Shape;581;p32"/>
            <p:cNvSpPr/>
            <p:nvPr/>
          </p:nvSpPr>
          <p:spPr>
            <a:xfrm>
              <a:off x="0" y="1808"/>
              <a:ext cx="10515600" cy="916611"/>
            </a:xfrm>
            <a:prstGeom prst="roundRect">
              <a:avLst>
                <a:gd fmla="val 10000" name="adj"/>
              </a:avLst>
            </a:prstGeom>
            <a:solidFill>
              <a:srgbClr val="E9713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2"/>
            <p:cNvSpPr/>
            <p:nvPr/>
          </p:nvSpPr>
          <p:spPr>
            <a:xfrm>
              <a:off x="277275" y="208046"/>
              <a:ext cx="504136" cy="504136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2"/>
            <p:cNvSpPr/>
            <p:nvPr/>
          </p:nvSpPr>
          <p:spPr>
            <a:xfrm>
              <a:off x="1058686" y="1808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2"/>
            <p:cNvSpPr txBox="1"/>
            <p:nvPr/>
          </p:nvSpPr>
          <p:spPr>
            <a:xfrm>
              <a:off x="1058686" y="1808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2750" lIns="72750" spcFirstLastPara="1" rIns="72750" wrap="square" tIns="727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None/>
              </a:pPr>
              <a: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MVC (Model-View-Controller)</a:t>
              </a:r>
              <a:b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Core Rails pattern for separation of concerns</a:t>
              </a:r>
              <a:endPara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32"/>
            <p:cNvSpPr/>
            <p:nvPr/>
          </p:nvSpPr>
          <p:spPr>
            <a:xfrm>
              <a:off x="0" y="1147573"/>
              <a:ext cx="10515600" cy="916611"/>
            </a:xfrm>
            <a:prstGeom prst="roundRect">
              <a:avLst>
                <a:gd fmla="val 10000" name="adj"/>
              </a:avLst>
            </a:prstGeom>
            <a:solidFill>
              <a:srgbClr val="176B22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2"/>
            <p:cNvSpPr/>
            <p:nvPr/>
          </p:nvSpPr>
          <p:spPr>
            <a:xfrm>
              <a:off x="277275" y="1353811"/>
              <a:ext cx="504136" cy="504136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2"/>
            <p:cNvSpPr/>
            <p:nvPr/>
          </p:nvSpPr>
          <p:spPr>
            <a:xfrm>
              <a:off x="1058686" y="1147573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2"/>
            <p:cNvSpPr txBox="1"/>
            <p:nvPr/>
          </p:nvSpPr>
          <p:spPr>
            <a:xfrm>
              <a:off x="1058686" y="1147573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2750" lIns="72750" spcFirstLastPara="1" rIns="72750" wrap="square" tIns="727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None/>
              </a:pPr>
              <a: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Secure Token Pattern</a:t>
              </a:r>
              <a:b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Used for email verification</a:t>
              </a:r>
              <a:endPara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32"/>
            <p:cNvSpPr/>
            <p:nvPr/>
          </p:nvSpPr>
          <p:spPr>
            <a:xfrm>
              <a:off x="0" y="2293338"/>
              <a:ext cx="10515600" cy="916611"/>
            </a:xfrm>
            <a:prstGeom prst="roundRect">
              <a:avLst>
                <a:gd fmla="val 10000" name="adj"/>
              </a:avLst>
            </a:prstGeom>
            <a:solidFill>
              <a:srgbClr val="0C9ED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2"/>
            <p:cNvSpPr/>
            <p:nvPr/>
          </p:nvSpPr>
          <p:spPr>
            <a:xfrm>
              <a:off x="277275" y="2499576"/>
              <a:ext cx="504136" cy="504136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2"/>
            <p:cNvSpPr/>
            <p:nvPr/>
          </p:nvSpPr>
          <p:spPr>
            <a:xfrm>
              <a:off x="1058686" y="2293338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2"/>
            <p:cNvSpPr txBox="1"/>
            <p:nvPr/>
          </p:nvSpPr>
          <p:spPr>
            <a:xfrm>
              <a:off x="1058686" y="2293338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2750" lIns="72750" spcFirstLastPara="1" rIns="72750" wrap="square" tIns="727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None/>
              </a:pPr>
              <a: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Callback Pattern</a:t>
              </a:r>
              <a:b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Used for maintaining data integrity</a:t>
              </a:r>
              <a: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sz="1100"/>
            </a:p>
          </p:txBody>
        </p:sp>
        <p:sp>
          <p:nvSpPr>
            <p:cNvPr id="593" name="Google Shape;593;p32"/>
            <p:cNvSpPr/>
            <p:nvPr/>
          </p:nvSpPr>
          <p:spPr>
            <a:xfrm>
              <a:off x="0" y="3439103"/>
              <a:ext cx="10515600" cy="916611"/>
            </a:xfrm>
            <a:prstGeom prst="roundRect">
              <a:avLst>
                <a:gd fmla="val 10000" name="adj"/>
              </a:avLst>
            </a:prstGeom>
            <a:solidFill>
              <a:srgbClr val="A0289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2"/>
            <p:cNvSpPr/>
            <p:nvPr/>
          </p:nvSpPr>
          <p:spPr>
            <a:xfrm>
              <a:off x="277275" y="3645341"/>
              <a:ext cx="504136" cy="504136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2"/>
            <p:cNvSpPr/>
            <p:nvPr/>
          </p:nvSpPr>
          <p:spPr>
            <a:xfrm>
              <a:off x="1058686" y="3439103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2"/>
            <p:cNvSpPr txBox="1"/>
            <p:nvPr/>
          </p:nvSpPr>
          <p:spPr>
            <a:xfrm>
              <a:off x="1058686" y="3439103"/>
              <a:ext cx="9456913" cy="9166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72750" lIns="72750" spcFirstLastPara="1" rIns="72750" wrap="square" tIns="727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None/>
              </a:pPr>
              <a: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Authorization Filter Pattern</a:t>
              </a:r>
              <a:br>
                <a:rPr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" sz="17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Used for access control</a:t>
              </a:r>
              <a:endPara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33"/>
          <p:cNvSpPr/>
          <p:nvPr/>
        </p:nvSpPr>
        <p:spPr>
          <a:xfrm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3"/>
          <p:cNvSpPr/>
          <p:nvPr/>
        </p:nvSpPr>
        <p:spPr>
          <a:xfrm flipH="1" rot="10800000">
            <a:off x="6096643" y="0"/>
            <a:ext cx="3047357" cy="1182309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3"/>
          <p:cNvSpPr/>
          <p:nvPr/>
        </p:nvSpPr>
        <p:spPr>
          <a:xfrm rot="5400000">
            <a:off x="3980833" y="-3980833"/>
            <a:ext cx="1182335" cy="9144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3725"/>
                </a:srgbClr>
              </a:gs>
              <a:gs pos="100000">
                <a:srgbClr val="000000">
                  <a:alpha val="73725"/>
                </a:srgbClr>
              </a:gs>
            </a:gsLst>
            <a:lin ang="20399999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33"/>
          <p:cNvSpPr txBox="1"/>
          <p:nvPr>
            <p:ph type="title"/>
          </p:nvPr>
        </p:nvSpPr>
        <p:spPr>
          <a:xfrm>
            <a:off x="1028698" y="261649"/>
            <a:ext cx="7533017" cy="658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lay"/>
              <a:buNone/>
            </a:pPr>
            <a:r>
              <a:rPr lang="en" sz="2100">
                <a:solidFill>
                  <a:srgbClr val="FFFFFF"/>
                </a:solidFill>
              </a:rPr>
              <a:t>System Design –</a:t>
            </a:r>
            <a:br>
              <a:rPr lang="en" sz="2100">
                <a:solidFill>
                  <a:srgbClr val="FFFFFF"/>
                </a:solidFill>
              </a:rPr>
            </a:br>
            <a:r>
              <a:rPr lang="en" sz="2100">
                <a:solidFill>
                  <a:srgbClr val="FFFFFF"/>
                </a:solidFill>
              </a:rPr>
              <a:t>Major Design Choices &amp; Justification</a:t>
            </a:r>
            <a:endParaRPr sz="2100">
              <a:solidFill>
                <a:srgbClr val="FFFFFF"/>
              </a:solidFill>
            </a:endParaRPr>
          </a:p>
        </p:txBody>
      </p:sp>
      <p:graphicFrame>
        <p:nvGraphicFramePr>
          <p:cNvPr id="606" name="Google Shape;606;p33"/>
          <p:cNvGraphicFramePr/>
          <p:nvPr/>
        </p:nvGraphicFramePr>
        <p:xfrm>
          <a:off x="239233" y="134767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{4647B167-5D44-4B21-BBC2-D34506D703D4}</a:tableStyleId>
              </a:tblPr>
              <a:tblGrid>
                <a:gridCol w="2139350"/>
                <a:gridCol w="6536800"/>
              </a:tblGrid>
              <a:tr h="2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CHOICES</a:t>
                      </a:r>
                      <a:endParaRPr sz="1100"/>
                    </a:p>
                  </a:txBody>
                  <a:tcPr marT="24200" marB="24200" marR="48375" marL="48375" anchor="b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JUSTIFICATIONS</a:t>
                      </a:r>
                      <a:endParaRPr sz="1100"/>
                    </a:p>
                  </a:txBody>
                  <a:tcPr marT="24200" marB="24200" marR="48375" marL="48375" anchor="b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TAMU Email Verification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Ensures network exclusivity and trust by limiting access to verified Texas A&amp;M students and alumni.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Company Email Domain Matching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Validates employment claims by requiring company email addresses that match the company name.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JSONB for Experiences/Education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Flexible schema allows users to add unlimited work history and education entries without database migrations.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Enum for Status Management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Provides type-safe status tracking (pending/approved/rejected) with built-in query methods like </a:t>
                      </a: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request.pending?</a:t>
                      </a:r>
                      <a:r>
                        <a:rPr lang="en" sz="1000" u="none" cap="none" strike="noStrike"/>
                        <a:t>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Automatic Conversation Creation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Streamlines communication by auto-creating conversations when referral requests are approved.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Active Storage for Resumes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Scalable file upload system that works with local storage (dev) and cloud storage (production).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Kaminari Pagination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Improves performance by loading referral posts in pages rather than all at once.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  <a:tr h="41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" sz="1000" u="none" cap="none" strike="noStrike">
                          <a:solidFill>
                            <a:srgbClr val="0F172A"/>
                          </a:solidFill>
                        </a:rPr>
                        <a:t>Bootstrap + Custom Theme</a:t>
                      </a:r>
                      <a:endParaRPr sz="1000" u="none" cap="none" strike="noStrike"/>
                    </a:p>
                  </a:txBody>
                  <a:tcPr marT="24200" marB="24200" marR="48375" marL="4837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/>
                        <a:t>Combines rapid development with consistent TAMU branding (maroon color scheme).</a:t>
                      </a:r>
                      <a:endParaRPr sz="1100"/>
                    </a:p>
                  </a:txBody>
                  <a:tcPr marT="24200" marB="24200" marR="48375" marL="4837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3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PASTE REAL HEROKU SCREENSHOTS HERE</a:t>
            </a:r>
            <a:endParaRPr/>
          </a:p>
        </p:txBody>
      </p:sp>
      <p:sp>
        <p:nvSpPr>
          <p:cNvPr id="612" name="Google Shape;612;p34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wavy lines&#10;&#10;AI-generated content may be incorrect." id="617" name="Google Shape;617;p35"/>
          <p:cNvPicPr preferRelativeResize="0"/>
          <p:nvPr/>
        </p:nvPicPr>
        <p:blipFill rotWithShape="1">
          <a:blip r:embed="rId3">
            <a:alphaModFix/>
          </a:blip>
          <a:srcRect b="18220" l="0" r="0" t="6780"/>
          <a:stretch/>
        </p:blipFill>
        <p:spPr>
          <a:xfrm>
            <a:off x="15" y="8"/>
            <a:ext cx="9143985" cy="5143492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35"/>
          <p:cNvSpPr/>
          <p:nvPr/>
        </p:nvSpPr>
        <p:spPr>
          <a:xfrm>
            <a:off x="0" y="0"/>
            <a:ext cx="9147602" cy="5143500"/>
          </a:xfrm>
          <a:prstGeom prst="rect">
            <a:avLst/>
          </a:prstGeom>
          <a:gradFill>
            <a:gsLst>
              <a:gs pos="0">
                <a:srgbClr val="E8E8E8">
                  <a:alpha val="83921"/>
                </a:srgbClr>
              </a:gs>
              <a:gs pos="28000">
                <a:srgbClr val="E8E8E8">
                  <a:alpha val="83921"/>
                </a:srgbClr>
              </a:gs>
              <a:gs pos="74000">
                <a:schemeClr val="lt1"/>
              </a:gs>
              <a:gs pos="100000">
                <a:schemeClr val="lt1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3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UI/UX Design - Design Principles Applied</a:t>
            </a:r>
            <a:endParaRPr/>
          </a:p>
        </p:txBody>
      </p:sp>
      <p:grpSp>
        <p:nvGrpSpPr>
          <p:cNvPr id="620" name="Google Shape;620;p35"/>
          <p:cNvGrpSpPr/>
          <p:nvPr/>
        </p:nvGrpSpPr>
        <p:grpSpPr>
          <a:xfrm>
            <a:off x="628650" y="1398984"/>
            <a:ext cx="7886700" cy="3203972"/>
            <a:chOff x="0" y="39687"/>
            <a:chExt cx="10515600" cy="4271963"/>
          </a:xfrm>
        </p:grpSpPr>
        <p:sp>
          <p:nvSpPr>
            <p:cNvPr id="621" name="Google Shape;621;p35"/>
            <p:cNvSpPr/>
            <p:nvPr/>
          </p:nvSpPr>
          <p:spPr>
            <a:xfrm>
              <a:off x="0" y="39687"/>
              <a:ext cx="3286125" cy="1971675"/>
            </a:xfrm>
            <a:prstGeom prst="rect">
              <a:avLst/>
            </a:prstGeom>
            <a:gradFill>
              <a:gsLst>
                <a:gs pos="0">
                  <a:srgbClr val="497D4C"/>
                </a:gs>
                <a:gs pos="50000">
                  <a:srgbClr val="116F1D"/>
                </a:gs>
                <a:gs pos="100000">
                  <a:srgbClr val="0B6417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35"/>
            <p:cNvSpPr txBox="1"/>
            <p:nvPr/>
          </p:nvSpPr>
          <p:spPr>
            <a:xfrm>
              <a:off x="0" y="39687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1425" lIns="51425" spcFirstLastPara="1" rIns="51425" wrap="square" tIns="514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Consistent Navigation: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Fixed Navigation Bar,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Active State Highlighting,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Logout Button always visible for quick session termination</a:t>
              </a:r>
              <a:endParaRPr sz="1100"/>
            </a:p>
          </p:txBody>
        </p:sp>
        <p:sp>
          <p:nvSpPr>
            <p:cNvPr id="623" name="Google Shape;623;p35"/>
            <p:cNvSpPr/>
            <p:nvPr/>
          </p:nvSpPr>
          <p:spPr>
            <a:xfrm>
              <a:off x="3614737" y="39687"/>
              <a:ext cx="3286125" cy="1971675"/>
            </a:xfrm>
            <a:prstGeom prst="rect">
              <a:avLst/>
            </a:prstGeom>
            <a:gradFill>
              <a:gsLst>
                <a:gs pos="0">
                  <a:srgbClr val="497D4C"/>
                </a:gs>
                <a:gs pos="50000">
                  <a:srgbClr val="116F1D"/>
                </a:gs>
                <a:gs pos="100000">
                  <a:srgbClr val="0B6417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35"/>
            <p:cNvSpPr txBox="1"/>
            <p:nvPr/>
          </p:nvSpPr>
          <p:spPr>
            <a:xfrm>
              <a:off x="3614737" y="39687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1425" lIns="51425" spcFirstLastPara="1" rIns="51425" wrap="square" tIns="514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Progressive Disclosure: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Status Badges,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Collapsible Filters can be toggled to reduce visual clutter,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Expandable Request Details shown only when clicking "See Full Submission"</a:t>
              </a:r>
              <a:endParaRPr sz="1100"/>
            </a:p>
          </p:txBody>
        </p:sp>
        <p:sp>
          <p:nvSpPr>
            <p:cNvPr id="625" name="Google Shape;625;p35"/>
            <p:cNvSpPr/>
            <p:nvPr/>
          </p:nvSpPr>
          <p:spPr>
            <a:xfrm>
              <a:off x="7229475" y="39687"/>
              <a:ext cx="3286125" cy="1971675"/>
            </a:xfrm>
            <a:prstGeom prst="rect">
              <a:avLst/>
            </a:prstGeom>
            <a:gradFill>
              <a:gsLst>
                <a:gs pos="0">
                  <a:srgbClr val="497D4C"/>
                </a:gs>
                <a:gs pos="50000">
                  <a:srgbClr val="116F1D"/>
                </a:gs>
                <a:gs pos="100000">
                  <a:srgbClr val="0B6417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35"/>
            <p:cNvSpPr txBox="1"/>
            <p:nvPr/>
          </p:nvSpPr>
          <p:spPr>
            <a:xfrm>
              <a:off x="7229475" y="39687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1425" lIns="51425" spcFirstLastPara="1" rIns="51425" wrap="square" tIns="514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Guided Workflows: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Step-by-Step Verification,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Question-Answer Forms,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Domain Matching Helper showing expected email domain based on company name</a:t>
              </a:r>
              <a:endParaRPr sz="1100"/>
            </a:p>
          </p:txBody>
        </p:sp>
        <p:sp>
          <p:nvSpPr>
            <p:cNvPr id="627" name="Google Shape;627;p35"/>
            <p:cNvSpPr/>
            <p:nvPr/>
          </p:nvSpPr>
          <p:spPr>
            <a:xfrm>
              <a:off x="1807368" y="2339975"/>
              <a:ext cx="3286125" cy="1971675"/>
            </a:xfrm>
            <a:prstGeom prst="rect">
              <a:avLst/>
            </a:prstGeom>
            <a:gradFill>
              <a:gsLst>
                <a:gs pos="0">
                  <a:srgbClr val="497D4C"/>
                </a:gs>
                <a:gs pos="50000">
                  <a:srgbClr val="116F1D"/>
                </a:gs>
                <a:gs pos="100000">
                  <a:srgbClr val="0B6417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5"/>
            <p:cNvSpPr txBox="1"/>
            <p:nvPr/>
          </p:nvSpPr>
          <p:spPr>
            <a:xfrm>
              <a:off x="1807368" y="2339975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1425" lIns="51425" spcFirstLastPara="1" rIns="51425" wrap="square" tIns="514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Visual Feedback: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Flash Messages,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Loading States change during form submission,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Inline Validation on form inputs (email format, password strength)</a:t>
              </a:r>
              <a:endParaRPr sz="1100"/>
            </a:p>
          </p:txBody>
        </p:sp>
        <p:sp>
          <p:nvSpPr>
            <p:cNvPr id="629" name="Google Shape;629;p35"/>
            <p:cNvSpPr/>
            <p:nvPr/>
          </p:nvSpPr>
          <p:spPr>
            <a:xfrm>
              <a:off x="5422106" y="2339975"/>
              <a:ext cx="3286125" cy="1971675"/>
            </a:xfrm>
            <a:prstGeom prst="rect">
              <a:avLst/>
            </a:prstGeom>
            <a:gradFill>
              <a:gsLst>
                <a:gs pos="0">
                  <a:srgbClr val="497D4C"/>
                </a:gs>
                <a:gs pos="50000">
                  <a:srgbClr val="116F1D"/>
                </a:gs>
                <a:gs pos="100000">
                  <a:srgbClr val="0B6417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5"/>
            <p:cNvSpPr txBox="1"/>
            <p:nvPr/>
          </p:nvSpPr>
          <p:spPr>
            <a:xfrm>
              <a:off x="5422106" y="2339975"/>
              <a:ext cx="3286125" cy="19716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1425" lIns="51425" spcFirstLastPara="1" rIns="51425" wrap="square" tIns="514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Mobile-First Design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Responsive Grid,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Touch-Friendly Buttons,</a:t>
              </a:r>
              <a:b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Readable Typography</a:t>
              </a:r>
              <a:endParaRPr sz="110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rry image of a blue and green light&#10;&#10;AI-generated content may be incorrect." id="635" name="Google Shape;635;p36"/>
          <p:cNvPicPr preferRelativeResize="0"/>
          <p:nvPr/>
        </p:nvPicPr>
        <p:blipFill rotWithShape="1">
          <a:blip r:embed="rId3">
            <a:alphaModFix/>
          </a:blip>
          <a:srcRect b="3666" l="0" r="0" t="11747"/>
          <a:stretch/>
        </p:blipFill>
        <p:spPr>
          <a:xfrm>
            <a:off x="15" y="8"/>
            <a:ext cx="9143985" cy="5143493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36"/>
          <p:cNvSpPr/>
          <p:nvPr/>
        </p:nvSpPr>
        <p:spPr>
          <a:xfrm>
            <a:off x="0" y="0"/>
            <a:ext cx="9147602" cy="5143500"/>
          </a:xfrm>
          <a:prstGeom prst="rect">
            <a:avLst/>
          </a:prstGeom>
          <a:gradFill>
            <a:gsLst>
              <a:gs pos="0">
                <a:srgbClr val="E8E8E8">
                  <a:alpha val="83921"/>
                </a:srgbClr>
              </a:gs>
              <a:gs pos="28000">
                <a:srgbClr val="E8E8E8">
                  <a:alpha val="83921"/>
                </a:srgbClr>
              </a:gs>
              <a:gs pos="74000">
                <a:schemeClr val="lt1"/>
              </a:gs>
              <a:gs pos="100000">
                <a:schemeClr val="lt1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3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AI Tool Usage</a:t>
            </a:r>
            <a:endParaRPr/>
          </a:p>
        </p:txBody>
      </p:sp>
      <p:grpSp>
        <p:nvGrpSpPr>
          <p:cNvPr id="638" name="Google Shape;638;p36"/>
          <p:cNvGrpSpPr/>
          <p:nvPr/>
        </p:nvGrpSpPr>
        <p:grpSpPr>
          <a:xfrm>
            <a:off x="628650" y="1369219"/>
            <a:ext cx="7886700" cy="3263503"/>
            <a:chOff x="0" y="0"/>
            <a:chExt cx="10515600" cy="4351338"/>
          </a:xfrm>
        </p:grpSpPr>
        <p:cxnSp>
          <p:nvCxnSpPr>
            <p:cNvPr id="639" name="Google Shape;639;p36"/>
            <p:cNvCxnSpPr/>
            <p:nvPr/>
          </p:nvCxnSpPr>
          <p:spPr>
            <a:xfrm>
              <a:off x="0" y="0"/>
              <a:ext cx="10515600" cy="0"/>
            </a:xfrm>
            <a:prstGeom prst="straightConnector1">
              <a:avLst/>
            </a:prstGeom>
            <a:solidFill>
              <a:srgbClr val="176B22"/>
            </a:solidFill>
            <a:ln cap="flat" cmpd="sng" w="19050">
              <a:solidFill>
                <a:srgbClr val="176B22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0" name="Google Shape;640;p36"/>
            <p:cNvSpPr/>
            <p:nvPr/>
          </p:nvSpPr>
          <p:spPr>
            <a:xfrm>
              <a:off x="0" y="0"/>
              <a:ext cx="2103120" cy="435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36"/>
            <p:cNvSpPr txBox="1"/>
            <p:nvPr/>
          </p:nvSpPr>
          <p:spPr>
            <a:xfrm>
              <a:off x="0" y="0"/>
              <a:ext cx="2103120" cy="4351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00025" lIns="100025" spcFirstLastPara="1" rIns="100025" wrap="square" tIns="1000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600"/>
                <a:buFont typeface="Arial"/>
                <a:buNone/>
              </a:pPr>
              <a:r>
                <a:rPr lang="en" sz="26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ChatGPT:</a:t>
              </a:r>
              <a:endParaRPr sz="1100"/>
            </a:p>
          </p:txBody>
        </p:sp>
        <p:sp>
          <p:nvSpPr>
            <p:cNvPr id="642" name="Google Shape;642;p36"/>
            <p:cNvSpPr/>
            <p:nvPr/>
          </p:nvSpPr>
          <p:spPr>
            <a:xfrm>
              <a:off x="2260854" y="67989"/>
              <a:ext cx="8254746" cy="13597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36"/>
            <p:cNvSpPr txBox="1"/>
            <p:nvPr/>
          </p:nvSpPr>
          <p:spPr>
            <a:xfrm>
              <a:off x="2260854" y="67989"/>
              <a:ext cx="8254746" cy="13597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7150" lIns="77150" spcFirstLastPara="1" rIns="77150" wrap="square" tIns="771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en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Code Explanation &amp; Debugging: To understand complex error messages and suggest fixes for RSpec and Cucumber tests.</a:t>
              </a:r>
              <a:endParaRPr sz="1100"/>
            </a:p>
          </p:txBody>
        </p:sp>
        <p:cxnSp>
          <p:nvCxnSpPr>
            <p:cNvPr id="644" name="Google Shape;644;p36"/>
            <p:cNvCxnSpPr/>
            <p:nvPr/>
          </p:nvCxnSpPr>
          <p:spPr>
            <a:xfrm>
              <a:off x="2103120" y="1427782"/>
              <a:ext cx="8412480" cy="0"/>
            </a:xfrm>
            <a:prstGeom prst="straightConnector1">
              <a:avLst/>
            </a:prstGeom>
            <a:solidFill>
              <a:srgbClr val="176B22"/>
            </a:solidFill>
            <a:ln cap="flat" cmpd="sng" w="19050">
              <a:solidFill>
                <a:srgbClr val="BBC6B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5" name="Google Shape;645;p36"/>
            <p:cNvSpPr/>
            <p:nvPr/>
          </p:nvSpPr>
          <p:spPr>
            <a:xfrm>
              <a:off x="2260854" y="1495772"/>
              <a:ext cx="8254746" cy="13597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36"/>
            <p:cNvSpPr txBox="1"/>
            <p:nvPr/>
          </p:nvSpPr>
          <p:spPr>
            <a:xfrm>
              <a:off x="2260854" y="1495772"/>
              <a:ext cx="8254746" cy="13597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7150" lIns="77150" spcFirstLastPara="1" rIns="77150" wrap="square" tIns="771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en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Boilerplate Generation: For generating standard Rails controller actions and model specs.</a:t>
              </a:r>
              <a:endParaRPr sz="1100"/>
            </a:p>
          </p:txBody>
        </p:sp>
        <p:cxnSp>
          <p:nvCxnSpPr>
            <p:cNvPr id="647" name="Google Shape;647;p36"/>
            <p:cNvCxnSpPr/>
            <p:nvPr/>
          </p:nvCxnSpPr>
          <p:spPr>
            <a:xfrm>
              <a:off x="2103120" y="2855565"/>
              <a:ext cx="8412480" cy="0"/>
            </a:xfrm>
            <a:prstGeom prst="straightConnector1">
              <a:avLst/>
            </a:prstGeom>
            <a:solidFill>
              <a:srgbClr val="176B22"/>
            </a:solidFill>
            <a:ln cap="flat" cmpd="sng" w="19050">
              <a:solidFill>
                <a:srgbClr val="BBC6B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8" name="Google Shape;648;p36"/>
            <p:cNvSpPr/>
            <p:nvPr/>
          </p:nvSpPr>
          <p:spPr>
            <a:xfrm>
              <a:off x="2260854" y="2923555"/>
              <a:ext cx="8254746" cy="13597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36"/>
            <p:cNvSpPr txBox="1"/>
            <p:nvPr/>
          </p:nvSpPr>
          <p:spPr>
            <a:xfrm>
              <a:off x="2260854" y="2923555"/>
              <a:ext cx="8254746" cy="13597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7150" lIns="77150" spcFirstLastPara="1" rIns="77150" wrap="square" tIns="771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en" sz="2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Best Practice Consultation: For inquiring about the idiomatic way of doing stuff in ruby.</a:t>
              </a:r>
              <a:endParaRPr sz="1100"/>
            </a:p>
          </p:txBody>
        </p:sp>
        <p:cxnSp>
          <p:nvCxnSpPr>
            <p:cNvPr id="650" name="Google Shape;650;p36"/>
            <p:cNvCxnSpPr/>
            <p:nvPr/>
          </p:nvCxnSpPr>
          <p:spPr>
            <a:xfrm>
              <a:off x="2103120" y="4283348"/>
              <a:ext cx="8412480" cy="0"/>
            </a:xfrm>
            <a:prstGeom prst="straightConnector1">
              <a:avLst/>
            </a:prstGeom>
            <a:solidFill>
              <a:srgbClr val="176B22"/>
            </a:solidFill>
            <a:ln cap="flat" cmpd="sng" w="19050">
              <a:solidFill>
                <a:srgbClr val="BBC6B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37"/>
          <p:cNvSpPr/>
          <p:nvPr/>
        </p:nvSpPr>
        <p:spPr>
          <a:xfrm>
            <a:off x="-1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37"/>
          <p:cNvSpPr txBox="1"/>
          <p:nvPr>
            <p:ph type="title"/>
          </p:nvPr>
        </p:nvSpPr>
        <p:spPr>
          <a:xfrm>
            <a:off x="628650" y="417891"/>
            <a:ext cx="7886700" cy="8501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00"/>
              <a:buFont typeface="Play"/>
              <a:buNone/>
            </a:pPr>
            <a:r>
              <a:rPr lang="en" sz="3900"/>
              <a:t>Challenges &amp; Lessons Learned</a:t>
            </a:r>
            <a:endParaRPr/>
          </a:p>
        </p:txBody>
      </p:sp>
      <p:grpSp>
        <p:nvGrpSpPr>
          <p:cNvPr id="657" name="Google Shape;657;p37"/>
          <p:cNvGrpSpPr/>
          <p:nvPr/>
        </p:nvGrpSpPr>
        <p:grpSpPr>
          <a:xfrm>
            <a:off x="247207" y="1205998"/>
            <a:ext cx="8612372" cy="3808049"/>
            <a:chOff x="0" y="2481"/>
            <a:chExt cx="11483163" cy="5077399"/>
          </a:xfrm>
        </p:grpSpPr>
        <p:cxnSp>
          <p:nvCxnSpPr>
            <p:cNvPr id="658" name="Google Shape;658;p37"/>
            <p:cNvCxnSpPr/>
            <p:nvPr/>
          </p:nvCxnSpPr>
          <p:spPr>
            <a:xfrm>
              <a:off x="0" y="2481"/>
              <a:ext cx="11483163" cy="0"/>
            </a:xfrm>
            <a:prstGeom prst="straightConnector1">
              <a:avLst/>
            </a:prstGeom>
            <a:solidFill>
              <a:srgbClr val="E97131"/>
            </a:solidFill>
            <a:ln cap="flat" cmpd="sng" w="19050">
              <a:solidFill>
                <a:srgbClr val="E9713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9" name="Google Shape;659;p37"/>
            <p:cNvSpPr/>
            <p:nvPr/>
          </p:nvSpPr>
          <p:spPr>
            <a:xfrm>
              <a:off x="0" y="2481"/>
              <a:ext cx="11483163" cy="16924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37"/>
            <p:cNvSpPr txBox="1"/>
            <p:nvPr/>
          </p:nvSpPr>
          <p:spPr>
            <a:xfrm>
              <a:off x="0" y="2481"/>
              <a:ext cx="11483163" cy="16924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51425" lIns="51425" spcFirstLastPara="1" rIns="51425" wrap="square" tIns="514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Challenge 1: Email Verification Flow Complexity:</a:t>
              </a:r>
              <a:b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Problem: Managing two separate verification flows (TAMU email and company email) with different token systems and mailer logic caused confusion during testing.</a:t>
              </a:r>
              <a:b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Lesson: When building multi-step verification systems, isolate each flow with separate controllers, mailers, and routes to avoid coupling and confusion.</a:t>
              </a:r>
              <a:endParaRPr sz="1100"/>
            </a:p>
          </p:txBody>
        </p:sp>
        <p:cxnSp>
          <p:nvCxnSpPr>
            <p:cNvPr id="661" name="Google Shape;661;p37"/>
            <p:cNvCxnSpPr/>
            <p:nvPr/>
          </p:nvCxnSpPr>
          <p:spPr>
            <a:xfrm>
              <a:off x="0" y="1694947"/>
              <a:ext cx="11483163" cy="0"/>
            </a:xfrm>
            <a:prstGeom prst="straightConnector1">
              <a:avLst/>
            </a:prstGeom>
            <a:solidFill>
              <a:srgbClr val="E97131"/>
            </a:solidFill>
            <a:ln cap="flat" cmpd="sng" w="19050">
              <a:solidFill>
                <a:srgbClr val="E9713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2" name="Google Shape;662;p37"/>
            <p:cNvSpPr/>
            <p:nvPr/>
          </p:nvSpPr>
          <p:spPr>
            <a:xfrm>
              <a:off x="0" y="1694947"/>
              <a:ext cx="11483163" cy="16924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37"/>
            <p:cNvSpPr txBox="1"/>
            <p:nvPr/>
          </p:nvSpPr>
          <p:spPr>
            <a:xfrm>
              <a:off x="0" y="1694947"/>
              <a:ext cx="11483163" cy="16924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51425" lIns="51425" spcFirstLastPara="1" rIns="51425" wrap="square" tIns="514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Challenge 2: JSONB Data Handling Across Environments:</a:t>
              </a:r>
              <a:b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Problem: SQLite stores JSONB as text, while PostgreSQL has native JSONB support, causing inconsistent behavior between development and production.</a:t>
              </a:r>
              <a:b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Lesson: When using JSONB fields, always normalize data in model callbacks to ensure cross-database compatibility and predictable behavior.</a:t>
              </a:r>
              <a:endParaRPr sz="1100"/>
            </a:p>
          </p:txBody>
        </p:sp>
        <p:cxnSp>
          <p:nvCxnSpPr>
            <p:cNvPr id="664" name="Google Shape;664;p37"/>
            <p:cNvCxnSpPr/>
            <p:nvPr/>
          </p:nvCxnSpPr>
          <p:spPr>
            <a:xfrm>
              <a:off x="0" y="3387414"/>
              <a:ext cx="11483163" cy="0"/>
            </a:xfrm>
            <a:prstGeom prst="straightConnector1">
              <a:avLst/>
            </a:prstGeom>
            <a:solidFill>
              <a:srgbClr val="E97131"/>
            </a:solidFill>
            <a:ln cap="flat" cmpd="sng" w="19050">
              <a:solidFill>
                <a:srgbClr val="E9713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5" name="Google Shape;665;p37"/>
            <p:cNvSpPr/>
            <p:nvPr/>
          </p:nvSpPr>
          <p:spPr>
            <a:xfrm>
              <a:off x="0" y="3387414"/>
              <a:ext cx="11483163" cy="16924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37"/>
            <p:cNvSpPr txBox="1"/>
            <p:nvPr/>
          </p:nvSpPr>
          <p:spPr>
            <a:xfrm>
              <a:off x="0" y="3387414"/>
              <a:ext cx="11483163" cy="16924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51425" lIns="51425" spcFirstLastPara="1" rIns="51425" wrap="square" tIns="514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Challenge 3: Referral Request Status Workflow:</a:t>
              </a:r>
              <a:b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Problem: Complex state transitions (pending → approved → closed post) with side effects (conversation creation) required careful transaction management to maintain data integrity.</a:t>
              </a:r>
              <a:b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Lesson: When status changes trigger multiple database operations, always use transactions to maintain atomicity and prevent partial updates.</a:t>
              </a:r>
              <a:endParaRPr sz="110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38"/>
          <p:cNvSpPr/>
          <p:nvPr/>
        </p:nvSpPr>
        <p:spPr>
          <a:xfrm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38"/>
          <p:cNvSpPr/>
          <p:nvPr/>
        </p:nvSpPr>
        <p:spPr>
          <a:xfrm flipH="1" rot="10800000">
            <a:off x="6096643" y="0"/>
            <a:ext cx="3047357" cy="1182309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38"/>
          <p:cNvSpPr/>
          <p:nvPr/>
        </p:nvSpPr>
        <p:spPr>
          <a:xfrm rot="5400000">
            <a:off x="3980833" y="-3980833"/>
            <a:ext cx="1182335" cy="9144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3725"/>
                </a:srgbClr>
              </a:gs>
              <a:gs pos="100000">
                <a:srgbClr val="000000">
                  <a:alpha val="73725"/>
                </a:srgbClr>
              </a:gs>
            </a:gsLst>
            <a:lin ang="20399999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38"/>
          <p:cNvSpPr txBox="1"/>
          <p:nvPr>
            <p:ph type="title"/>
          </p:nvPr>
        </p:nvSpPr>
        <p:spPr>
          <a:xfrm>
            <a:off x="1028698" y="261649"/>
            <a:ext cx="7533017" cy="658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Play"/>
              <a:buNone/>
            </a:pPr>
            <a:r>
              <a:rPr lang="en" sz="3000">
                <a:solidFill>
                  <a:srgbClr val="FFFFFF"/>
                </a:solidFill>
              </a:rPr>
              <a:t>Future Plans &amp; Opportunities</a:t>
            </a:r>
            <a:endParaRPr sz="3000">
              <a:solidFill>
                <a:srgbClr val="FFFFFF"/>
              </a:solidFill>
            </a:endParaRPr>
          </a:p>
        </p:txBody>
      </p:sp>
      <p:grpSp>
        <p:nvGrpSpPr>
          <p:cNvPr id="676" name="Google Shape;676;p38"/>
          <p:cNvGrpSpPr/>
          <p:nvPr/>
        </p:nvGrpSpPr>
        <p:grpSpPr>
          <a:xfrm>
            <a:off x="694708" y="1860456"/>
            <a:ext cx="7772539" cy="2592559"/>
            <a:chOff x="282221" y="368029"/>
            <a:chExt cx="10363386" cy="3456746"/>
          </a:xfrm>
        </p:grpSpPr>
        <p:sp>
          <p:nvSpPr>
            <p:cNvPr id="677" name="Google Shape;677;p38"/>
            <p:cNvSpPr/>
            <p:nvPr/>
          </p:nvSpPr>
          <p:spPr>
            <a:xfrm>
              <a:off x="282221" y="368029"/>
              <a:ext cx="1371985" cy="1371985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38"/>
            <p:cNvSpPr/>
            <p:nvPr/>
          </p:nvSpPr>
          <p:spPr>
            <a:xfrm>
              <a:off x="570337" y="656145"/>
              <a:ext cx="795751" cy="795751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38"/>
            <p:cNvSpPr/>
            <p:nvPr/>
          </p:nvSpPr>
          <p:spPr>
            <a:xfrm>
              <a:off x="1948202" y="368029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38"/>
            <p:cNvSpPr txBox="1"/>
            <p:nvPr/>
          </p:nvSpPr>
          <p:spPr>
            <a:xfrm>
              <a:off x="1948202" y="368029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Enhanced Notifications &amp; Messaging:</a:t>
              </a:r>
              <a:b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Real-time email/in-app alerts with WebSocket chat, LinkedIn integration, and notification center</a:t>
              </a:r>
              <a:endParaRPr sz="1100"/>
            </a:p>
          </p:txBody>
        </p:sp>
        <p:sp>
          <p:nvSpPr>
            <p:cNvPr id="681" name="Google Shape;681;p38"/>
            <p:cNvSpPr/>
            <p:nvPr/>
          </p:nvSpPr>
          <p:spPr>
            <a:xfrm>
              <a:off x="5745661" y="368029"/>
              <a:ext cx="1371985" cy="1371985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38"/>
            <p:cNvSpPr/>
            <p:nvPr/>
          </p:nvSpPr>
          <p:spPr>
            <a:xfrm>
              <a:off x="6033778" y="656145"/>
              <a:ext cx="795751" cy="79575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8"/>
            <p:cNvSpPr/>
            <p:nvPr/>
          </p:nvSpPr>
          <p:spPr>
            <a:xfrm>
              <a:off x="7411643" y="368029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8"/>
            <p:cNvSpPr txBox="1"/>
            <p:nvPr/>
          </p:nvSpPr>
          <p:spPr>
            <a:xfrm>
              <a:off x="7411643" y="368029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Advanced Analytics &amp; Matching:</a:t>
              </a:r>
              <a:b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AI resume parsing, referral success tracking, Elasticsearch, and analytics dashboard</a:t>
              </a:r>
              <a:endParaRPr sz="1100"/>
            </a:p>
          </p:txBody>
        </p:sp>
        <p:sp>
          <p:nvSpPr>
            <p:cNvPr id="685" name="Google Shape;685;p38"/>
            <p:cNvSpPr/>
            <p:nvPr/>
          </p:nvSpPr>
          <p:spPr>
            <a:xfrm>
              <a:off x="282221" y="2452790"/>
              <a:ext cx="1371985" cy="1371985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38"/>
            <p:cNvSpPr/>
            <p:nvPr/>
          </p:nvSpPr>
          <p:spPr>
            <a:xfrm>
              <a:off x="570337" y="2740907"/>
              <a:ext cx="795751" cy="795751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38"/>
            <p:cNvSpPr/>
            <p:nvPr/>
          </p:nvSpPr>
          <p:spPr>
            <a:xfrm>
              <a:off x="1948202" y="2452790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38"/>
            <p:cNvSpPr txBox="1"/>
            <p:nvPr/>
          </p:nvSpPr>
          <p:spPr>
            <a:xfrm>
              <a:off x="1948202" y="2452790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Mobile &amp; API Development:</a:t>
              </a:r>
              <a:b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RESTful API for native iOS/Android apps with background job processing</a:t>
              </a:r>
              <a:endParaRPr sz="1100"/>
            </a:p>
          </p:txBody>
        </p:sp>
        <p:sp>
          <p:nvSpPr>
            <p:cNvPr id="689" name="Google Shape;689;p38"/>
            <p:cNvSpPr/>
            <p:nvPr/>
          </p:nvSpPr>
          <p:spPr>
            <a:xfrm>
              <a:off x="5745661" y="2452790"/>
              <a:ext cx="1371985" cy="1371985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38"/>
            <p:cNvSpPr/>
            <p:nvPr/>
          </p:nvSpPr>
          <p:spPr>
            <a:xfrm>
              <a:off x="6033778" y="2740907"/>
              <a:ext cx="795751" cy="795751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38"/>
            <p:cNvSpPr/>
            <p:nvPr/>
          </p:nvSpPr>
          <p:spPr>
            <a:xfrm>
              <a:off x="7411643" y="2452790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8"/>
            <p:cNvSpPr txBox="1"/>
            <p:nvPr/>
          </p:nvSpPr>
          <p:spPr>
            <a:xfrm>
              <a:off x="7411643" y="2452790"/>
              <a:ext cx="3233964" cy="13719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Security &amp; Compliance:</a:t>
              </a:r>
              <a:br>
                <a:rPr b="1"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" sz="13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Two-factor authentication, GDPR tools, audit logging, and token expiration</a:t>
              </a:r>
              <a:endParaRPr sz="110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39"/>
          <p:cNvSpPr txBox="1"/>
          <p:nvPr>
            <p:ph type="title"/>
          </p:nvPr>
        </p:nvSpPr>
        <p:spPr>
          <a:xfrm>
            <a:off x="571501" y="3805518"/>
            <a:ext cx="7581899" cy="4485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"/>
              <a:buNone/>
            </a:pPr>
            <a:r>
              <a:rPr lang="en" sz="2700"/>
              <a:t>Thank You</a:t>
            </a:r>
            <a:endParaRPr/>
          </a:p>
        </p:txBody>
      </p:sp>
      <p:pic>
        <p:nvPicPr>
          <p:cNvPr descr="Aerial view of a highway near the ocean" id="698" name="Google Shape;698;p39"/>
          <p:cNvPicPr preferRelativeResize="0"/>
          <p:nvPr/>
        </p:nvPicPr>
        <p:blipFill rotWithShape="1">
          <a:blip r:embed="rId3">
            <a:alphaModFix/>
          </a:blip>
          <a:srcRect b="27849" l="0" r="0" t="26515"/>
          <a:stretch/>
        </p:blipFill>
        <p:spPr>
          <a:xfrm>
            <a:off x="15" y="-29"/>
            <a:ext cx="9143985" cy="312955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9" name="Google Shape;699;p39"/>
          <p:cNvCxnSpPr/>
          <p:nvPr/>
        </p:nvCxnSpPr>
        <p:spPr>
          <a:xfrm>
            <a:off x="648856" y="3608638"/>
            <a:ext cx="552704" cy="0"/>
          </a:xfrm>
          <a:prstGeom prst="straightConnector1">
            <a:avLst/>
          </a:prstGeom>
          <a:noFill/>
          <a:ln cap="flat" cmpd="sng" w="5715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